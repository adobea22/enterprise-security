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6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4321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94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Shape 1"/>
          <p:cNvSpPr/>
          <p:nvPr/>
        </p:nvSpPr>
        <p:spPr>
          <a:xfrm>
            <a:off x="0" y="4114800"/>
            <a:ext cx="9144000" cy="1028700"/>
          </a:xfrm>
          <a:prstGeom prst="rect">
            <a:avLst/>
          </a:prstGeom>
          <a:solidFill>
            <a:srgbClr val="1E2761"/>
          </a:solidFill>
          <a:ln w="12700">
            <a:solidFill>
              <a:srgbClr val="1E2761"/>
            </a:solidFill>
            <a:prstDash val="solid"/>
          </a:ln>
        </p:spPr>
      </p:sp>
      <p:sp>
        <p:nvSpPr>
          <p:cNvPr id="4" name="Text 2"/>
          <p:cNvSpPr/>
          <p:nvPr/>
        </p:nvSpPr>
        <p:spPr>
          <a:xfrm>
            <a:off x="548640" y="411480"/>
            <a:ext cx="8229600" cy="365760"/>
          </a:xfrm>
          <a:prstGeom prst="rect">
            <a:avLst/>
          </a:prstGeom>
          <a:noFill/>
          <a:ln/>
        </p:spPr>
        <p:txBody>
          <a:bodyPr wrap="square" rtlCol="0" anchor="ctr"/>
          <a:lstStyle/>
          <a:p>
            <a:pPr marL="0" indent="0">
              <a:buNone/>
            </a:pPr>
            <a:r>
              <a:rPr lang="en-US" sz="1100" b="1" kern="0" spc="200" dirty="0">
                <a:solidFill>
                  <a:srgbClr val="8896C0"/>
                </a:solidFill>
                <a:latin typeface="Calibri" pitchFamily="34" charset="0"/>
                <a:ea typeface="Calibri" pitchFamily="34" charset="-122"/>
                <a:cs typeface="Calibri" pitchFamily="34" charset="-120"/>
              </a:rPr>
              <a:t>UNIVERSITY OF MINES AND TECHNOLOGY (UMaT)</a:t>
            </a:r>
            <a:endParaRPr lang="en-US" sz="1100" dirty="0"/>
          </a:p>
        </p:txBody>
      </p:sp>
      <p:sp>
        <p:nvSpPr>
          <p:cNvPr id="5" name="Text 3"/>
          <p:cNvSpPr/>
          <p:nvPr/>
        </p:nvSpPr>
        <p:spPr>
          <a:xfrm>
            <a:off x="548640" y="777240"/>
            <a:ext cx="8229600" cy="274320"/>
          </a:xfrm>
          <a:prstGeom prst="rect">
            <a:avLst/>
          </a:prstGeom>
          <a:noFill/>
          <a:ln/>
        </p:spPr>
        <p:txBody>
          <a:bodyPr wrap="square"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Faculty of Computing and Mathematical Sciences</a:t>
            </a:r>
            <a:endParaRPr lang="en-US" sz="1000" dirty="0"/>
          </a:p>
        </p:txBody>
      </p:sp>
      <p:sp>
        <p:nvSpPr>
          <p:cNvPr id="6" name="Text 4"/>
          <p:cNvSpPr/>
          <p:nvPr/>
        </p:nvSpPr>
        <p:spPr>
          <a:xfrm>
            <a:off x="548640" y="1024128"/>
            <a:ext cx="8229600" cy="274320"/>
          </a:xfrm>
          <a:prstGeom prst="rect">
            <a:avLst/>
          </a:prstGeom>
          <a:noFill/>
          <a:ln/>
        </p:spPr>
        <p:txBody>
          <a:bodyPr wrap="square"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Department of Computer Science and Engineering</a:t>
            </a:r>
            <a:endParaRPr lang="en-US" sz="1000" dirty="0"/>
          </a:p>
        </p:txBody>
      </p:sp>
      <p:sp>
        <p:nvSpPr>
          <p:cNvPr id="7" name="Text 5"/>
          <p:cNvSpPr/>
          <p:nvPr/>
        </p:nvSpPr>
        <p:spPr>
          <a:xfrm>
            <a:off x="548640" y="1508760"/>
            <a:ext cx="822960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STADIUM NETWORK SECURITY ASSESSMENT</a:t>
            </a:r>
            <a:endParaRPr lang="en-US" sz="3000" dirty="0"/>
          </a:p>
        </p:txBody>
      </p:sp>
      <p:sp>
        <p:nvSpPr>
          <p:cNvPr id="8" name="Text 6"/>
          <p:cNvSpPr/>
          <p:nvPr/>
        </p:nvSpPr>
        <p:spPr>
          <a:xfrm>
            <a:off x="548640" y="2834640"/>
            <a:ext cx="8229600" cy="73152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A Comprehensive Security Report on Perimeter Identification, Network Infrastructure, and Human Operational Factors</a:t>
            </a:r>
            <a:endParaRPr lang="en-US" sz="1300" dirty="0"/>
          </a:p>
        </p:txBody>
      </p:sp>
      <p:sp>
        <p:nvSpPr>
          <p:cNvPr id="9" name="Text 7"/>
          <p:cNvSpPr/>
          <p:nvPr/>
        </p:nvSpPr>
        <p:spPr>
          <a:xfrm>
            <a:off x="548640" y="4206240"/>
            <a:ext cx="4572000" cy="320040"/>
          </a:xfrm>
          <a:prstGeom prst="rect">
            <a:avLst/>
          </a:prstGeom>
          <a:noFill/>
          <a:ln/>
        </p:spPr>
        <p:txBody>
          <a:bodyPr wrap="square" rtlCol="0" anchor="ctr"/>
          <a:lstStyle/>
          <a:p>
            <a:pPr marL="0" indent="0">
              <a:buNone/>
            </a:pPr>
            <a:r>
              <a:rPr lang="en-US" sz="1100" dirty="0">
                <a:solidFill>
                  <a:srgbClr val="8896C0"/>
                </a:solidFill>
                <a:latin typeface="Calibri" pitchFamily="34" charset="0"/>
                <a:ea typeface="Calibri" pitchFamily="34" charset="-122"/>
                <a:cs typeface="Calibri" pitchFamily="34" charset="-120"/>
              </a:rPr>
              <a:t>February 2026  |  Tarkwa, Ghana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GROUP MEMBERS</a:t>
            </a:r>
            <a:endParaRPr lang="en-US" sz="2000" dirty="0"/>
          </a:p>
        </p:txBody>
      </p:sp>
      <p:sp>
        <p:nvSpPr>
          <p:cNvPr id="5" name="Shape 3"/>
          <p:cNvSpPr/>
          <p:nvPr/>
        </p:nvSpPr>
        <p:spPr>
          <a:xfrm>
            <a:off x="365760" y="822960"/>
            <a:ext cx="4023360" cy="685800"/>
          </a:xfrm>
          <a:prstGeom prst="rect">
            <a:avLst/>
          </a:prstGeom>
          <a:solidFill>
            <a:srgbClr val="FFFFFF"/>
          </a:solidFill>
          <a:ln w="12700">
            <a:solidFill>
              <a:srgbClr val="CADCFC"/>
            </a:solidFill>
            <a:prstDash val="solid"/>
          </a:ln>
        </p:spPr>
      </p:sp>
      <p:sp>
        <p:nvSpPr>
          <p:cNvPr id="6" name="Shape 4"/>
          <p:cNvSpPr/>
          <p:nvPr/>
        </p:nvSpPr>
        <p:spPr>
          <a:xfrm>
            <a:off x="365760" y="822960"/>
            <a:ext cx="64008" cy="685800"/>
          </a:xfrm>
          <a:prstGeom prst="rect">
            <a:avLst/>
          </a:prstGeom>
          <a:solidFill>
            <a:srgbClr val="E05C5C"/>
          </a:solidFill>
          <a:ln w="12700">
            <a:solidFill>
              <a:srgbClr val="E05C5C"/>
            </a:solidFill>
            <a:prstDash val="solid"/>
          </a:ln>
        </p:spPr>
      </p:sp>
      <p:sp>
        <p:nvSpPr>
          <p:cNvPr id="7" name="Text 5"/>
          <p:cNvSpPr/>
          <p:nvPr/>
        </p:nvSpPr>
        <p:spPr>
          <a:xfrm>
            <a:off x="548640" y="841248"/>
            <a:ext cx="32004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Sulemana Akunatu Abdul Jalil</a:t>
            </a:r>
            <a:endParaRPr lang="en-US" sz="1200" dirty="0"/>
          </a:p>
        </p:txBody>
      </p:sp>
      <p:sp>
        <p:nvSpPr>
          <p:cNvPr id="8" name="Text 6"/>
          <p:cNvSpPr/>
          <p:nvPr/>
        </p:nvSpPr>
        <p:spPr>
          <a:xfrm>
            <a:off x="548640" y="1133856"/>
            <a:ext cx="320040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FCM.41.018.245.23</a:t>
            </a:r>
            <a:endParaRPr lang="en-US" sz="1000" dirty="0"/>
          </a:p>
        </p:txBody>
      </p:sp>
      <p:sp>
        <p:nvSpPr>
          <p:cNvPr id="9" name="Shape 7"/>
          <p:cNvSpPr/>
          <p:nvPr/>
        </p:nvSpPr>
        <p:spPr>
          <a:xfrm>
            <a:off x="365760" y="1618488"/>
            <a:ext cx="4023360" cy="685800"/>
          </a:xfrm>
          <a:prstGeom prst="rect">
            <a:avLst/>
          </a:prstGeom>
          <a:solidFill>
            <a:srgbClr val="FFFFFF"/>
          </a:solidFill>
          <a:ln w="12700">
            <a:solidFill>
              <a:srgbClr val="CADCFC"/>
            </a:solidFill>
            <a:prstDash val="solid"/>
          </a:ln>
        </p:spPr>
      </p:sp>
      <p:sp>
        <p:nvSpPr>
          <p:cNvPr id="10" name="Shape 8"/>
          <p:cNvSpPr/>
          <p:nvPr/>
        </p:nvSpPr>
        <p:spPr>
          <a:xfrm>
            <a:off x="365760" y="1618488"/>
            <a:ext cx="64008" cy="685800"/>
          </a:xfrm>
          <a:prstGeom prst="rect">
            <a:avLst/>
          </a:prstGeom>
          <a:solidFill>
            <a:srgbClr val="E05C5C"/>
          </a:solidFill>
          <a:ln w="12700">
            <a:solidFill>
              <a:srgbClr val="E05C5C"/>
            </a:solidFill>
            <a:prstDash val="solid"/>
          </a:ln>
        </p:spPr>
      </p:sp>
      <p:sp>
        <p:nvSpPr>
          <p:cNvPr id="11" name="Text 9"/>
          <p:cNvSpPr/>
          <p:nvPr/>
        </p:nvSpPr>
        <p:spPr>
          <a:xfrm>
            <a:off x="548640" y="1636776"/>
            <a:ext cx="32004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Mohammed Abdallah</a:t>
            </a:r>
            <a:endParaRPr lang="en-US" sz="1200" dirty="0"/>
          </a:p>
        </p:txBody>
      </p:sp>
      <p:sp>
        <p:nvSpPr>
          <p:cNvPr id="12" name="Text 10"/>
          <p:cNvSpPr/>
          <p:nvPr/>
        </p:nvSpPr>
        <p:spPr>
          <a:xfrm>
            <a:off x="548640" y="1929384"/>
            <a:ext cx="320040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FCM.41.018.175.23</a:t>
            </a:r>
            <a:endParaRPr lang="en-US" sz="1000" dirty="0"/>
          </a:p>
        </p:txBody>
      </p:sp>
      <p:sp>
        <p:nvSpPr>
          <p:cNvPr id="13" name="Shape 11"/>
          <p:cNvSpPr/>
          <p:nvPr/>
        </p:nvSpPr>
        <p:spPr>
          <a:xfrm>
            <a:off x="365760" y="2414016"/>
            <a:ext cx="4023360" cy="685800"/>
          </a:xfrm>
          <a:prstGeom prst="rect">
            <a:avLst/>
          </a:prstGeom>
          <a:solidFill>
            <a:srgbClr val="FFFFFF"/>
          </a:solidFill>
          <a:ln w="12700">
            <a:solidFill>
              <a:srgbClr val="CADCFC"/>
            </a:solidFill>
            <a:prstDash val="solid"/>
          </a:ln>
        </p:spPr>
      </p:sp>
      <p:sp>
        <p:nvSpPr>
          <p:cNvPr id="14" name="Shape 12"/>
          <p:cNvSpPr/>
          <p:nvPr/>
        </p:nvSpPr>
        <p:spPr>
          <a:xfrm>
            <a:off x="365760" y="2414016"/>
            <a:ext cx="64008" cy="685800"/>
          </a:xfrm>
          <a:prstGeom prst="rect">
            <a:avLst/>
          </a:prstGeom>
          <a:solidFill>
            <a:srgbClr val="E05C5C"/>
          </a:solidFill>
          <a:ln w="12700">
            <a:solidFill>
              <a:srgbClr val="E05C5C"/>
            </a:solidFill>
            <a:prstDash val="solid"/>
          </a:ln>
        </p:spPr>
      </p:sp>
      <p:sp>
        <p:nvSpPr>
          <p:cNvPr id="15" name="Text 13"/>
          <p:cNvSpPr/>
          <p:nvPr/>
        </p:nvSpPr>
        <p:spPr>
          <a:xfrm>
            <a:off x="548640" y="2432304"/>
            <a:ext cx="32004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Arthur Fosu Samuel</a:t>
            </a:r>
            <a:endParaRPr lang="en-US" sz="1200" dirty="0"/>
          </a:p>
        </p:txBody>
      </p:sp>
      <p:sp>
        <p:nvSpPr>
          <p:cNvPr id="16" name="Text 14"/>
          <p:cNvSpPr/>
          <p:nvPr/>
        </p:nvSpPr>
        <p:spPr>
          <a:xfrm>
            <a:off x="548640" y="2724912"/>
            <a:ext cx="320040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FCM.41.018.070.23</a:t>
            </a:r>
            <a:endParaRPr lang="en-US" sz="1000" dirty="0"/>
          </a:p>
        </p:txBody>
      </p:sp>
      <p:sp>
        <p:nvSpPr>
          <p:cNvPr id="17" name="Shape 15"/>
          <p:cNvSpPr/>
          <p:nvPr/>
        </p:nvSpPr>
        <p:spPr>
          <a:xfrm>
            <a:off x="365760" y="3209544"/>
            <a:ext cx="4023360" cy="685800"/>
          </a:xfrm>
          <a:prstGeom prst="rect">
            <a:avLst/>
          </a:prstGeom>
          <a:solidFill>
            <a:srgbClr val="FFFFFF"/>
          </a:solidFill>
          <a:ln w="12700">
            <a:solidFill>
              <a:srgbClr val="CADCFC"/>
            </a:solidFill>
            <a:prstDash val="solid"/>
          </a:ln>
        </p:spPr>
      </p:sp>
      <p:sp>
        <p:nvSpPr>
          <p:cNvPr id="18" name="Shape 16"/>
          <p:cNvSpPr/>
          <p:nvPr/>
        </p:nvSpPr>
        <p:spPr>
          <a:xfrm>
            <a:off x="365760" y="3209544"/>
            <a:ext cx="64008" cy="685800"/>
          </a:xfrm>
          <a:prstGeom prst="rect">
            <a:avLst/>
          </a:prstGeom>
          <a:solidFill>
            <a:srgbClr val="E05C5C"/>
          </a:solidFill>
          <a:ln w="12700">
            <a:solidFill>
              <a:srgbClr val="E05C5C"/>
            </a:solidFill>
            <a:prstDash val="solid"/>
          </a:ln>
        </p:spPr>
      </p:sp>
      <p:sp>
        <p:nvSpPr>
          <p:cNvPr id="19" name="Text 17"/>
          <p:cNvSpPr/>
          <p:nvPr/>
        </p:nvSpPr>
        <p:spPr>
          <a:xfrm>
            <a:off x="548640" y="3227832"/>
            <a:ext cx="32004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Narteh Benjamin Kwame Tei</a:t>
            </a:r>
            <a:endParaRPr lang="en-US" sz="1200" dirty="0"/>
          </a:p>
        </p:txBody>
      </p:sp>
      <p:sp>
        <p:nvSpPr>
          <p:cNvPr id="20" name="Text 18"/>
          <p:cNvSpPr/>
          <p:nvPr/>
        </p:nvSpPr>
        <p:spPr>
          <a:xfrm>
            <a:off x="548640" y="3520440"/>
            <a:ext cx="320040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FCM.41.018.183.23</a:t>
            </a:r>
            <a:endParaRPr lang="en-US" sz="1000" dirty="0"/>
          </a:p>
        </p:txBody>
      </p:sp>
      <p:sp>
        <p:nvSpPr>
          <p:cNvPr id="21" name="Shape 19"/>
          <p:cNvSpPr/>
          <p:nvPr/>
        </p:nvSpPr>
        <p:spPr>
          <a:xfrm>
            <a:off x="365760" y="4005072"/>
            <a:ext cx="4023360" cy="685800"/>
          </a:xfrm>
          <a:prstGeom prst="rect">
            <a:avLst/>
          </a:prstGeom>
          <a:solidFill>
            <a:srgbClr val="FFFFFF"/>
          </a:solidFill>
          <a:ln w="12700">
            <a:solidFill>
              <a:srgbClr val="CADCFC"/>
            </a:solidFill>
            <a:prstDash val="solid"/>
          </a:ln>
        </p:spPr>
      </p:sp>
      <p:sp>
        <p:nvSpPr>
          <p:cNvPr id="22" name="Shape 20"/>
          <p:cNvSpPr/>
          <p:nvPr/>
        </p:nvSpPr>
        <p:spPr>
          <a:xfrm>
            <a:off x="365760" y="4005072"/>
            <a:ext cx="64008" cy="685800"/>
          </a:xfrm>
          <a:prstGeom prst="rect">
            <a:avLst/>
          </a:prstGeom>
          <a:solidFill>
            <a:srgbClr val="E05C5C"/>
          </a:solidFill>
          <a:ln w="12700">
            <a:solidFill>
              <a:srgbClr val="E05C5C"/>
            </a:solidFill>
            <a:prstDash val="solid"/>
          </a:ln>
        </p:spPr>
      </p:sp>
      <p:sp>
        <p:nvSpPr>
          <p:cNvPr id="23" name="Text 21"/>
          <p:cNvSpPr/>
          <p:nvPr/>
        </p:nvSpPr>
        <p:spPr>
          <a:xfrm>
            <a:off x="548640" y="4023360"/>
            <a:ext cx="32004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Osei Michael Nyamekye</a:t>
            </a:r>
            <a:endParaRPr lang="en-US" sz="1200" dirty="0"/>
          </a:p>
        </p:txBody>
      </p:sp>
      <p:sp>
        <p:nvSpPr>
          <p:cNvPr id="24" name="Text 22"/>
          <p:cNvSpPr/>
          <p:nvPr/>
        </p:nvSpPr>
        <p:spPr>
          <a:xfrm>
            <a:off x="548640" y="4315968"/>
            <a:ext cx="320040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FCM.41.018.218.23</a:t>
            </a:r>
            <a:endParaRPr lang="en-US" sz="1000" dirty="0"/>
          </a:p>
        </p:txBody>
      </p:sp>
      <p:sp>
        <p:nvSpPr>
          <p:cNvPr id="25" name="Shape 23"/>
          <p:cNvSpPr/>
          <p:nvPr/>
        </p:nvSpPr>
        <p:spPr>
          <a:xfrm>
            <a:off x="4754880" y="822960"/>
            <a:ext cx="4023360" cy="685800"/>
          </a:xfrm>
          <a:prstGeom prst="rect">
            <a:avLst/>
          </a:prstGeom>
          <a:solidFill>
            <a:srgbClr val="FFFFFF"/>
          </a:solidFill>
          <a:ln w="12700">
            <a:solidFill>
              <a:srgbClr val="CADCFC"/>
            </a:solidFill>
            <a:prstDash val="solid"/>
          </a:ln>
        </p:spPr>
      </p:sp>
      <p:sp>
        <p:nvSpPr>
          <p:cNvPr id="26" name="Shape 24"/>
          <p:cNvSpPr/>
          <p:nvPr/>
        </p:nvSpPr>
        <p:spPr>
          <a:xfrm>
            <a:off x="4754880" y="822960"/>
            <a:ext cx="64008" cy="685800"/>
          </a:xfrm>
          <a:prstGeom prst="rect">
            <a:avLst/>
          </a:prstGeom>
          <a:solidFill>
            <a:srgbClr val="E05C5C"/>
          </a:solidFill>
          <a:ln w="12700">
            <a:solidFill>
              <a:srgbClr val="E05C5C"/>
            </a:solidFill>
            <a:prstDash val="solid"/>
          </a:ln>
        </p:spPr>
      </p:sp>
      <p:sp>
        <p:nvSpPr>
          <p:cNvPr id="27" name="Text 25"/>
          <p:cNvSpPr/>
          <p:nvPr/>
        </p:nvSpPr>
        <p:spPr>
          <a:xfrm>
            <a:off x="4937760" y="841248"/>
            <a:ext cx="356616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Mushinat Mukaila</a:t>
            </a:r>
            <a:endParaRPr lang="en-US" sz="1200" dirty="0"/>
          </a:p>
        </p:txBody>
      </p:sp>
      <p:sp>
        <p:nvSpPr>
          <p:cNvPr id="28" name="Text 26"/>
          <p:cNvSpPr/>
          <p:nvPr/>
        </p:nvSpPr>
        <p:spPr>
          <a:xfrm>
            <a:off x="4937760" y="1133856"/>
            <a:ext cx="356616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FCM.41.018.179.23</a:t>
            </a:r>
            <a:endParaRPr lang="en-US" sz="1000" dirty="0"/>
          </a:p>
        </p:txBody>
      </p:sp>
      <p:sp>
        <p:nvSpPr>
          <p:cNvPr id="29" name="Shape 27"/>
          <p:cNvSpPr/>
          <p:nvPr/>
        </p:nvSpPr>
        <p:spPr>
          <a:xfrm>
            <a:off x="4754880" y="1618488"/>
            <a:ext cx="4023360" cy="685800"/>
          </a:xfrm>
          <a:prstGeom prst="rect">
            <a:avLst/>
          </a:prstGeom>
          <a:solidFill>
            <a:srgbClr val="FFFFFF"/>
          </a:solidFill>
          <a:ln w="12700">
            <a:solidFill>
              <a:srgbClr val="CADCFC"/>
            </a:solidFill>
            <a:prstDash val="solid"/>
          </a:ln>
        </p:spPr>
      </p:sp>
      <p:sp>
        <p:nvSpPr>
          <p:cNvPr id="30" name="Shape 28"/>
          <p:cNvSpPr/>
          <p:nvPr/>
        </p:nvSpPr>
        <p:spPr>
          <a:xfrm>
            <a:off x="4754880" y="1618488"/>
            <a:ext cx="64008" cy="685800"/>
          </a:xfrm>
          <a:prstGeom prst="rect">
            <a:avLst/>
          </a:prstGeom>
          <a:solidFill>
            <a:srgbClr val="E05C5C"/>
          </a:solidFill>
          <a:ln w="12700">
            <a:solidFill>
              <a:srgbClr val="E05C5C"/>
            </a:solidFill>
            <a:prstDash val="solid"/>
          </a:ln>
        </p:spPr>
      </p:sp>
      <p:sp>
        <p:nvSpPr>
          <p:cNvPr id="31" name="Text 29"/>
          <p:cNvSpPr/>
          <p:nvPr/>
        </p:nvSpPr>
        <p:spPr>
          <a:xfrm>
            <a:off x="4937760" y="1636776"/>
            <a:ext cx="356616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Adu Martin Yeboah</a:t>
            </a:r>
            <a:endParaRPr lang="en-US" sz="1200" dirty="0"/>
          </a:p>
        </p:txBody>
      </p:sp>
      <p:sp>
        <p:nvSpPr>
          <p:cNvPr id="32" name="Text 30"/>
          <p:cNvSpPr/>
          <p:nvPr/>
        </p:nvSpPr>
        <p:spPr>
          <a:xfrm>
            <a:off x="4937760" y="1929384"/>
            <a:ext cx="356616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FCM.41.018.013.23</a:t>
            </a:r>
            <a:endParaRPr lang="en-US" sz="1000" dirty="0"/>
          </a:p>
        </p:txBody>
      </p:sp>
      <p:sp>
        <p:nvSpPr>
          <p:cNvPr id="33" name="Shape 31"/>
          <p:cNvSpPr/>
          <p:nvPr/>
        </p:nvSpPr>
        <p:spPr>
          <a:xfrm>
            <a:off x="4754880" y="2414016"/>
            <a:ext cx="4023360" cy="685800"/>
          </a:xfrm>
          <a:prstGeom prst="rect">
            <a:avLst/>
          </a:prstGeom>
          <a:solidFill>
            <a:srgbClr val="FFFFFF"/>
          </a:solidFill>
          <a:ln w="12700">
            <a:solidFill>
              <a:srgbClr val="CADCFC"/>
            </a:solidFill>
            <a:prstDash val="solid"/>
          </a:ln>
        </p:spPr>
      </p:sp>
      <p:sp>
        <p:nvSpPr>
          <p:cNvPr id="34" name="Shape 32"/>
          <p:cNvSpPr/>
          <p:nvPr/>
        </p:nvSpPr>
        <p:spPr>
          <a:xfrm>
            <a:off x="4754880" y="2414016"/>
            <a:ext cx="64008" cy="685800"/>
          </a:xfrm>
          <a:prstGeom prst="rect">
            <a:avLst/>
          </a:prstGeom>
          <a:solidFill>
            <a:srgbClr val="E05C5C"/>
          </a:solidFill>
          <a:ln w="12700">
            <a:solidFill>
              <a:srgbClr val="E05C5C"/>
            </a:solidFill>
            <a:prstDash val="solid"/>
          </a:ln>
        </p:spPr>
      </p:sp>
      <p:sp>
        <p:nvSpPr>
          <p:cNvPr id="35" name="Text 33"/>
          <p:cNvSpPr/>
          <p:nvPr/>
        </p:nvSpPr>
        <p:spPr>
          <a:xfrm>
            <a:off x="4937760" y="2432304"/>
            <a:ext cx="356616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Ernest Dadzie</a:t>
            </a:r>
            <a:endParaRPr lang="en-US" sz="1200" dirty="0"/>
          </a:p>
        </p:txBody>
      </p:sp>
      <p:sp>
        <p:nvSpPr>
          <p:cNvPr id="36" name="Text 34"/>
          <p:cNvSpPr/>
          <p:nvPr/>
        </p:nvSpPr>
        <p:spPr>
          <a:xfrm>
            <a:off x="4937760" y="2724912"/>
            <a:ext cx="356616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FCM.41.018.118.23</a:t>
            </a:r>
            <a:endParaRPr lang="en-US" sz="1000" dirty="0"/>
          </a:p>
        </p:txBody>
      </p:sp>
      <p:sp>
        <p:nvSpPr>
          <p:cNvPr id="37" name="Shape 35"/>
          <p:cNvSpPr/>
          <p:nvPr/>
        </p:nvSpPr>
        <p:spPr>
          <a:xfrm>
            <a:off x="4754880" y="3209544"/>
            <a:ext cx="4023360" cy="685800"/>
          </a:xfrm>
          <a:prstGeom prst="rect">
            <a:avLst/>
          </a:prstGeom>
          <a:solidFill>
            <a:srgbClr val="FFFFFF"/>
          </a:solidFill>
          <a:ln w="12700">
            <a:solidFill>
              <a:srgbClr val="CADCFC"/>
            </a:solidFill>
            <a:prstDash val="solid"/>
          </a:ln>
        </p:spPr>
      </p:sp>
      <p:sp>
        <p:nvSpPr>
          <p:cNvPr id="38" name="Shape 36"/>
          <p:cNvSpPr/>
          <p:nvPr/>
        </p:nvSpPr>
        <p:spPr>
          <a:xfrm>
            <a:off x="4754880" y="3209544"/>
            <a:ext cx="64008" cy="685800"/>
          </a:xfrm>
          <a:prstGeom prst="rect">
            <a:avLst/>
          </a:prstGeom>
          <a:solidFill>
            <a:srgbClr val="E05C5C"/>
          </a:solidFill>
          <a:ln w="12700">
            <a:solidFill>
              <a:srgbClr val="E05C5C"/>
            </a:solidFill>
            <a:prstDash val="solid"/>
          </a:ln>
        </p:spPr>
      </p:sp>
      <p:sp>
        <p:nvSpPr>
          <p:cNvPr id="39" name="Text 37"/>
          <p:cNvSpPr/>
          <p:nvPr/>
        </p:nvSpPr>
        <p:spPr>
          <a:xfrm>
            <a:off x="4937760" y="3227832"/>
            <a:ext cx="356616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Danso Adobea Josephine</a:t>
            </a:r>
            <a:endParaRPr lang="en-US" sz="1200" dirty="0"/>
          </a:p>
        </p:txBody>
      </p:sp>
      <p:sp>
        <p:nvSpPr>
          <p:cNvPr id="40" name="Text 38"/>
          <p:cNvSpPr/>
          <p:nvPr/>
        </p:nvSpPr>
        <p:spPr>
          <a:xfrm>
            <a:off x="4937760" y="3520440"/>
            <a:ext cx="3566160" cy="27432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FCM.41.018.120.23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EXECUTIVE SUMMARY</a:t>
            </a:r>
            <a:endParaRPr lang="en-US" sz="2000" dirty="0"/>
          </a:p>
        </p:txBody>
      </p:sp>
      <p:sp>
        <p:nvSpPr>
          <p:cNvPr id="5" name="Text 3"/>
          <p:cNvSpPr/>
          <p:nvPr/>
        </p:nvSpPr>
        <p:spPr>
          <a:xfrm>
            <a:off x="365760" y="777240"/>
            <a:ext cx="8412480" cy="6858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This report presents a network security assessment for a 20,000-capacity stadium. It covers three main areas: the physical and logical security perimeter, the wireless network boundary, and human factors that could affect security.</a:t>
            </a:r>
            <a:endParaRPr lang="en-US" sz="1300" dirty="0"/>
          </a:p>
        </p:txBody>
      </p:sp>
      <p:sp>
        <p:nvSpPr>
          <p:cNvPr id="6" name="Shape 4"/>
          <p:cNvSpPr/>
          <p:nvPr/>
        </p:nvSpPr>
        <p:spPr>
          <a:xfrm>
            <a:off x="365760" y="1600200"/>
            <a:ext cx="2606040" cy="2560320"/>
          </a:xfrm>
          <a:prstGeom prst="rect">
            <a:avLst/>
          </a:prstGeom>
          <a:solidFill>
            <a:srgbClr val="1E2761"/>
          </a:solidFill>
          <a:ln w="12700">
            <a:solidFill>
              <a:srgbClr val="1E2761"/>
            </a:solidFill>
            <a:prstDash val="solid"/>
          </a:ln>
        </p:spPr>
      </p:sp>
      <p:sp>
        <p:nvSpPr>
          <p:cNvPr id="7" name="Shape 5"/>
          <p:cNvSpPr/>
          <p:nvPr/>
        </p:nvSpPr>
        <p:spPr>
          <a:xfrm>
            <a:off x="365760" y="1600200"/>
            <a:ext cx="2606040" cy="73152"/>
          </a:xfrm>
          <a:prstGeom prst="rect">
            <a:avLst/>
          </a:prstGeom>
          <a:solidFill>
            <a:srgbClr val="E05C5C"/>
          </a:solidFill>
          <a:ln w="12700">
            <a:solidFill>
              <a:srgbClr val="E05C5C"/>
            </a:solidFill>
            <a:prstDash val="solid"/>
          </a:ln>
        </p:spPr>
      </p:sp>
      <p:sp>
        <p:nvSpPr>
          <p:cNvPr id="8" name="Text 6"/>
          <p:cNvSpPr/>
          <p:nvPr/>
        </p:nvSpPr>
        <p:spPr>
          <a:xfrm>
            <a:off x="457200" y="1783080"/>
            <a:ext cx="242316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Physical Perimeter</a:t>
            </a:r>
            <a:endParaRPr lang="en-US" sz="1400" dirty="0"/>
          </a:p>
        </p:txBody>
      </p:sp>
      <p:sp>
        <p:nvSpPr>
          <p:cNvPr id="9" name="Text 7"/>
          <p:cNvSpPr/>
          <p:nvPr/>
        </p:nvSpPr>
        <p:spPr>
          <a:xfrm>
            <a:off x="457200" y="2377440"/>
            <a:ext cx="2423160" cy="1463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Ten security zones with risk levels and access controls</a:t>
            </a:r>
            <a:endParaRPr lang="en-US" sz="1200" dirty="0"/>
          </a:p>
        </p:txBody>
      </p:sp>
      <p:sp>
        <p:nvSpPr>
          <p:cNvPr id="10" name="Shape 8"/>
          <p:cNvSpPr/>
          <p:nvPr/>
        </p:nvSpPr>
        <p:spPr>
          <a:xfrm>
            <a:off x="3200400" y="1600200"/>
            <a:ext cx="2606040" cy="2560320"/>
          </a:xfrm>
          <a:prstGeom prst="rect">
            <a:avLst/>
          </a:prstGeom>
          <a:solidFill>
            <a:srgbClr val="1E2761"/>
          </a:solidFill>
          <a:ln w="12700">
            <a:solidFill>
              <a:srgbClr val="1E2761"/>
            </a:solidFill>
            <a:prstDash val="solid"/>
          </a:ln>
        </p:spPr>
      </p:sp>
      <p:sp>
        <p:nvSpPr>
          <p:cNvPr id="11" name="Shape 9"/>
          <p:cNvSpPr/>
          <p:nvPr/>
        </p:nvSpPr>
        <p:spPr>
          <a:xfrm>
            <a:off x="3200400" y="1600200"/>
            <a:ext cx="2606040" cy="73152"/>
          </a:xfrm>
          <a:prstGeom prst="rect">
            <a:avLst/>
          </a:prstGeom>
          <a:solidFill>
            <a:srgbClr val="E05C5C"/>
          </a:solidFill>
          <a:ln w="12700">
            <a:solidFill>
              <a:srgbClr val="E05C5C"/>
            </a:solidFill>
            <a:prstDash val="solid"/>
          </a:ln>
        </p:spPr>
      </p:sp>
      <p:sp>
        <p:nvSpPr>
          <p:cNvPr id="12" name="Text 10"/>
          <p:cNvSpPr/>
          <p:nvPr/>
        </p:nvSpPr>
        <p:spPr>
          <a:xfrm>
            <a:off x="3291840" y="1783080"/>
            <a:ext cx="242316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Wireless Network</a:t>
            </a:r>
            <a:endParaRPr lang="en-US" sz="1400" dirty="0"/>
          </a:p>
        </p:txBody>
      </p:sp>
      <p:sp>
        <p:nvSpPr>
          <p:cNvPr id="13" name="Text 11"/>
          <p:cNvSpPr/>
          <p:nvPr/>
        </p:nvSpPr>
        <p:spPr>
          <a:xfrm>
            <a:off x="3291840" y="2377440"/>
            <a:ext cx="2423160" cy="1463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Boundary control, VLAN design, and rogue AP detection</a:t>
            </a:r>
            <a:endParaRPr lang="en-US" sz="1200" dirty="0"/>
          </a:p>
        </p:txBody>
      </p:sp>
      <p:sp>
        <p:nvSpPr>
          <p:cNvPr id="14" name="Shape 12"/>
          <p:cNvSpPr/>
          <p:nvPr/>
        </p:nvSpPr>
        <p:spPr>
          <a:xfrm>
            <a:off x="6035040" y="1600200"/>
            <a:ext cx="2606040" cy="2560320"/>
          </a:xfrm>
          <a:prstGeom prst="rect">
            <a:avLst/>
          </a:prstGeom>
          <a:solidFill>
            <a:srgbClr val="1E2761"/>
          </a:solidFill>
          <a:ln w="12700">
            <a:solidFill>
              <a:srgbClr val="1E2761"/>
            </a:solidFill>
            <a:prstDash val="solid"/>
          </a:ln>
        </p:spPr>
      </p:sp>
      <p:sp>
        <p:nvSpPr>
          <p:cNvPr id="15" name="Shape 13"/>
          <p:cNvSpPr/>
          <p:nvPr/>
        </p:nvSpPr>
        <p:spPr>
          <a:xfrm>
            <a:off x="6035040" y="1600200"/>
            <a:ext cx="2606040" cy="73152"/>
          </a:xfrm>
          <a:prstGeom prst="rect">
            <a:avLst/>
          </a:prstGeom>
          <a:solidFill>
            <a:srgbClr val="E05C5C"/>
          </a:solidFill>
          <a:ln w="12700">
            <a:solidFill>
              <a:srgbClr val="E05C5C"/>
            </a:solidFill>
            <a:prstDash val="solid"/>
          </a:ln>
        </p:spPr>
      </p:sp>
      <p:sp>
        <p:nvSpPr>
          <p:cNvPr id="16" name="Text 14"/>
          <p:cNvSpPr/>
          <p:nvPr/>
        </p:nvSpPr>
        <p:spPr>
          <a:xfrm>
            <a:off x="6126480" y="1783080"/>
            <a:ext cx="242316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Human Factors</a:t>
            </a:r>
            <a:endParaRPr lang="en-US" sz="1400" dirty="0"/>
          </a:p>
        </p:txBody>
      </p:sp>
      <p:sp>
        <p:nvSpPr>
          <p:cNvPr id="17" name="Text 15"/>
          <p:cNvSpPr/>
          <p:nvPr/>
        </p:nvSpPr>
        <p:spPr>
          <a:xfrm>
            <a:off x="6126480" y="2377440"/>
            <a:ext cx="2423160" cy="1463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Social engineering threats and staff trust classification</a:t>
            </a:r>
            <a:endParaRPr lang="en-US" sz="1200" dirty="0"/>
          </a:p>
        </p:txBody>
      </p:sp>
      <p:sp>
        <p:nvSpPr>
          <p:cNvPr id="18" name="Text 16"/>
          <p:cNvSpPr/>
          <p:nvPr/>
        </p:nvSpPr>
        <p:spPr>
          <a:xfrm>
            <a:off x="365760" y="4389120"/>
            <a:ext cx="8412480" cy="411480"/>
          </a:xfrm>
          <a:prstGeom prst="rect">
            <a:avLst/>
          </a:prstGeom>
          <a:noFill/>
          <a:ln/>
        </p:spPr>
        <p:txBody>
          <a:bodyPr wrap="square" rtlCol="0" anchor="ctr"/>
          <a:lstStyle/>
          <a:p>
            <a:pPr marL="0" indent="0">
              <a:buNone/>
            </a:pPr>
            <a:r>
              <a:rPr lang="en-US" sz="1100" i="1" dirty="0">
                <a:solidFill>
                  <a:srgbClr val="8896C0"/>
                </a:solidFill>
                <a:latin typeface="Calibri" pitchFamily="34" charset="0"/>
                <a:ea typeface="Calibri" pitchFamily="34" charset="-122"/>
                <a:cs typeface="Calibri" pitchFamily="34" charset="-120"/>
              </a:rPr>
              <a:t>Recommendations based on three security layers: physical protection, network control, and human awareness.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Text 1"/>
          <p:cNvSpPr/>
          <p:nvPr/>
        </p:nvSpPr>
        <p:spPr>
          <a:xfrm>
            <a:off x="640080" y="1371600"/>
            <a:ext cx="7772400" cy="548640"/>
          </a:xfrm>
          <a:prstGeom prst="rect">
            <a:avLst/>
          </a:prstGeom>
          <a:noFill/>
          <a:ln/>
        </p:spPr>
        <p:txBody>
          <a:bodyPr wrap="square" rtlCol="0" anchor="ctr"/>
          <a:lstStyle/>
          <a:p>
            <a:pPr marL="0" indent="0">
              <a:buNone/>
            </a:pPr>
            <a:r>
              <a:rPr lang="en-US" sz="1400" b="1" kern="0" spc="500" dirty="0">
                <a:solidFill>
                  <a:srgbClr val="E05C5C"/>
                </a:solidFill>
                <a:latin typeface="Calibri" pitchFamily="34" charset="0"/>
                <a:ea typeface="Calibri" pitchFamily="34" charset="-122"/>
                <a:cs typeface="Calibri" pitchFamily="34" charset="-120"/>
              </a:rPr>
              <a:t>SECTION 1</a:t>
            </a:r>
            <a:endParaRPr lang="en-US" sz="1400" dirty="0"/>
          </a:p>
        </p:txBody>
      </p:sp>
      <p:sp>
        <p:nvSpPr>
          <p:cNvPr id="4" name="Text 2"/>
          <p:cNvSpPr/>
          <p:nvPr/>
        </p:nvSpPr>
        <p:spPr>
          <a:xfrm>
            <a:off x="640080" y="1920240"/>
            <a:ext cx="7772400"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Perimeter Identification</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1.1 PHYSICAL PERIMETER DEFINITION</a:t>
            </a:r>
            <a:endParaRPr lang="en-US" sz="2000" dirty="0"/>
          </a:p>
        </p:txBody>
      </p:sp>
      <p:sp>
        <p:nvSpPr>
          <p:cNvPr id="5" name="Shape 3"/>
          <p:cNvSpPr/>
          <p:nvPr/>
        </p:nvSpPr>
        <p:spPr>
          <a:xfrm>
            <a:off x="365760" y="777240"/>
            <a:ext cx="3931920" cy="4069080"/>
          </a:xfrm>
          <a:prstGeom prst="rect">
            <a:avLst/>
          </a:prstGeom>
          <a:solidFill>
            <a:srgbClr val="FFFFFF"/>
          </a:solidFill>
          <a:ln w="12700">
            <a:solidFill>
              <a:srgbClr val="CADCFC"/>
            </a:solidFill>
            <a:prstDash val="solid"/>
          </a:ln>
        </p:spPr>
      </p:sp>
      <p:sp>
        <p:nvSpPr>
          <p:cNvPr id="6" name="Shape 4"/>
          <p:cNvSpPr/>
          <p:nvPr/>
        </p:nvSpPr>
        <p:spPr>
          <a:xfrm>
            <a:off x="365760" y="777240"/>
            <a:ext cx="3931920" cy="411480"/>
          </a:xfrm>
          <a:prstGeom prst="rect">
            <a:avLst/>
          </a:prstGeom>
          <a:solidFill>
            <a:srgbClr val="1E2761"/>
          </a:solidFill>
          <a:ln w="12700">
            <a:solidFill>
              <a:srgbClr val="1E2761"/>
            </a:solidFill>
            <a:prstDash val="solid"/>
          </a:ln>
        </p:spPr>
      </p:sp>
      <p:sp>
        <p:nvSpPr>
          <p:cNvPr id="7" name="Text 5"/>
          <p:cNvSpPr/>
          <p:nvPr/>
        </p:nvSpPr>
        <p:spPr>
          <a:xfrm>
            <a:off x="457200" y="795528"/>
            <a:ext cx="374904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Visible Physical Boundaries</a:t>
            </a:r>
            <a:endParaRPr lang="en-US" sz="1300" dirty="0"/>
          </a:p>
        </p:txBody>
      </p:sp>
      <p:sp>
        <p:nvSpPr>
          <p:cNvPr id="8" name="Text 6"/>
          <p:cNvSpPr/>
          <p:nvPr/>
        </p:nvSpPr>
        <p:spPr>
          <a:xfrm>
            <a:off x="457200" y="1280160"/>
            <a:ext cx="3657600" cy="3474720"/>
          </a:xfrm>
          <a:prstGeom prst="rect">
            <a:avLst/>
          </a:prstGeom>
          <a:noFill/>
          <a:ln/>
        </p:spPr>
        <p:txBody>
          <a:bodyPr wrap="square" rtlCol="0" anchor="t"/>
          <a:lstStyle/>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Stadium outer fence and walls</a:t>
            </a:r>
            <a:endParaRPr lang="en-US" sz="1300" dirty="0"/>
          </a:p>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Parking lot barriers at all vehicle entry points</a:t>
            </a:r>
            <a:endParaRPr lang="en-US" sz="1300" dirty="0"/>
          </a:p>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Security checkpoints at all entry gates</a:t>
            </a:r>
            <a:endParaRPr lang="en-US" sz="1300" dirty="0"/>
          </a:p>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Ticket control points at spectator entrances</a:t>
            </a:r>
            <a:endParaRPr lang="en-US" sz="1300" dirty="0"/>
          </a:p>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Main stadium gates with security guards on patrol</a:t>
            </a:r>
            <a:endParaRPr lang="en-US" sz="1300" dirty="0"/>
          </a:p>
        </p:txBody>
      </p:sp>
      <p:sp>
        <p:nvSpPr>
          <p:cNvPr id="9" name="Shape 7"/>
          <p:cNvSpPr/>
          <p:nvPr/>
        </p:nvSpPr>
        <p:spPr>
          <a:xfrm>
            <a:off x="4846320" y="777240"/>
            <a:ext cx="3931920" cy="4069080"/>
          </a:xfrm>
          <a:prstGeom prst="rect">
            <a:avLst/>
          </a:prstGeom>
          <a:solidFill>
            <a:srgbClr val="FFFFFF"/>
          </a:solidFill>
          <a:ln w="12700">
            <a:solidFill>
              <a:srgbClr val="CADCFC"/>
            </a:solidFill>
            <a:prstDash val="solid"/>
          </a:ln>
        </p:spPr>
      </p:sp>
      <p:sp>
        <p:nvSpPr>
          <p:cNvPr id="10" name="Shape 8"/>
          <p:cNvSpPr/>
          <p:nvPr/>
        </p:nvSpPr>
        <p:spPr>
          <a:xfrm>
            <a:off x="4846320" y="777240"/>
            <a:ext cx="3931920" cy="411480"/>
          </a:xfrm>
          <a:prstGeom prst="rect">
            <a:avLst/>
          </a:prstGeom>
          <a:solidFill>
            <a:srgbClr val="E05C5C"/>
          </a:solidFill>
          <a:ln w="12700">
            <a:solidFill>
              <a:srgbClr val="E05C5C"/>
            </a:solidFill>
            <a:prstDash val="solid"/>
          </a:ln>
        </p:spPr>
      </p:sp>
      <p:sp>
        <p:nvSpPr>
          <p:cNvPr id="11" name="Text 9"/>
          <p:cNvSpPr/>
          <p:nvPr/>
        </p:nvSpPr>
        <p:spPr>
          <a:xfrm>
            <a:off x="4937760" y="795528"/>
            <a:ext cx="374904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Invisible Logical Boundaries</a:t>
            </a:r>
            <a:endParaRPr lang="en-US" sz="1300" dirty="0"/>
          </a:p>
        </p:txBody>
      </p:sp>
      <p:sp>
        <p:nvSpPr>
          <p:cNvPr id="12" name="Text 10"/>
          <p:cNvSpPr/>
          <p:nvPr/>
        </p:nvSpPr>
        <p:spPr>
          <a:xfrm>
            <a:off x="4937760" y="1280160"/>
            <a:ext cx="3657600" cy="3474720"/>
          </a:xfrm>
          <a:prstGeom prst="rect">
            <a:avLst/>
          </a:prstGeom>
          <a:noFill/>
          <a:ln/>
        </p:spPr>
        <p:txBody>
          <a:bodyPr wrap="square" rtlCol="0" anchor="t"/>
          <a:lstStyle/>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Wireless network coverage limits — signals must not go outside the stadium</a:t>
            </a:r>
            <a:endParaRPr lang="en-US" sz="1300" dirty="0"/>
          </a:p>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CCTV monitoring zones covering all areas</a:t>
            </a:r>
            <a:endParaRPr lang="en-US" sz="1300" dirty="0"/>
          </a:p>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Network firewall boundaries separating all security zones</a:t>
            </a:r>
            <a:endParaRPr lang="en-US" sz="1300" dirty="0"/>
          </a:p>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Security patrol areas monitored by the control room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FIGURE 1: SITE VISIT PHOTOS — STADIUM FACILITY</a:t>
            </a:r>
            <a:endParaRPr lang="en-US" sz="2000" dirty="0"/>
          </a:p>
        </p:txBody>
      </p:sp>
      <p:pic>
        <p:nvPicPr>
          <p:cNvPr id="5" name="Image 0" descr="preencoded.png"/>
          <p:cNvPicPr>
            <a:picLocks noChangeAspect="1"/>
          </p:cNvPicPr>
          <p:nvPr/>
        </p:nvPicPr>
        <p:blipFill>
          <a:blip r:embed="rId3"/>
          <a:srcRect/>
          <a:stretch/>
        </p:blipFill>
        <p:spPr>
          <a:xfrm>
            <a:off x="320040" y="777240"/>
            <a:ext cx="4206240" cy="4069080"/>
          </a:xfrm>
          <a:prstGeom prst="rect">
            <a:avLst/>
          </a:prstGeom>
        </p:spPr>
      </p:pic>
      <p:pic>
        <p:nvPicPr>
          <p:cNvPr id="6" name="Image 1" descr="preencoded.png"/>
          <p:cNvPicPr>
            <a:picLocks noChangeAspect="1"/>
          </p:cNvPicPr>
          <p:nvPr/>
        </p:nvPicPr>
        <p:blipFill>
          <a:blip r:embed="rId4"/>
          <a:srcRect/>
          <a:stretch/>
        </p:blipFill>
        <p:spPr>
          <a:xfrm>
            <a:off x="4617720" y="777240"/>
            <a:ext cx="4206240" cy="4069080"/>
          </a:xfrm>
          <a:prstGeom prst="rect">
            <a:avLst/>
          </a:prstGeom>
        </p:spPr>
      </p:pic>
      <p:sp>
        <p:nvSpPr>
          <p:cNvPr id="7" name="Shape 3"/>
          <p:cNvSpPr/>
          <p:nvPr/>
        </p:nvSpPr>
        <p:spPr>
          <a:xfrm>
            <a:off x="320040" y="4544568"/>
            <a:ext cx="4206240" cy="301752"/>
          </a:xfrm>
          <a:prstGeom prst="rect">
            <a:avLst/>
          </a:prstGeom>
          <a:solidFill>
            <a:srgbClr val="1E2761"/>
          </a:solidFill>
          <a:ln w="12700">
            <a:solidFill>
              <a:srgbClr val="1E2761"/>
            </a:solidFill>
            <a:prstDash val="solid"/>
          </a:ln>
        </p:spPr>
      </p:sp>
      <p:sp>
        <p:nvSpPr>
          <p:cNvPr id="8" name="Text 4"/>
          <p:cNvSpPr/>
          <p:nvPr/>
        </p:nvSpPr>
        <p:spPr>
          <a:xfrm>
            <a:off x="411480" y="4553712"/>
            <a:ext cx="4023360" cy="274320"/>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Site visit photo 1 — Stadium perimeter &amp; grounds</a:t>
            </a:r>
            <a:endParaRPr lang="en-US" sz="950" dirty="0"/>
          </a:p>
        </p:txBody>
      </p:sp>
      <p:sp>
        <p:nvSpPr>
          <p:cNvPr id="9" name="Shape 5"/>
          <p:cNvSpPr/>
          <p:nvPr/>
        </p:nvSpPr>
        <p:spPr>
          <a:xfrm>
            <a:off x="4617720" y="4544568"/>
            <a:ext cx="4206240" cy="301752"/>
          </a:xfrm>
          <a:prstGeom prst="rect">
            <a:avLst/>
          </a:prstGeom>
          <a:solidFill>
            <a:srgbClr val="1E2761"/>
          </a:solidFill>
          <a:ln w="12700">
            <a:solidFill>
              <a:srgbClr val="1E2761"/>
            </a:solidFill>
            <a:prstDash val="solid"/>
          </a:ln>
        </p:spPr>
      </p:sp>
      <p:sp>
        <p:nvSpPr>
          <p:cNvPr id="10" name="Text 6"/>
          <p:cNvSpPr/>
          <p:nvPr/>
        </p:nvSpPr>
        <p:spPr>
          <a:xfrm>
            <a:off x="4709160" y="4553712"/>
            <a:ext cx="4023360" cy="274320"/>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Site visit photo 2 — Playing field &amp; surrounding area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1.2 SECURITY ZONE CLASSIFICATION</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550710234"/>
              </p:ext>
            </p:extLst>
          </p:nvPr>
        </p:nvGraphicFramePr>
        <p:xfrm>
          <a:off x="274320" y="777240"/>
          <a:ext cx="5362946" cy="4114800"/>
        </p:xfrm>
        <a:graphic>
          <a:graphicData uri="http://schemas.openxmlformats.org/drawingml/2006/table">
            <a:tbl>
              <a:tblPr/>
              <a:tblGrid>
                <a:gridCol w="479146">
                  <a:extLst>
                    <a:ext uri="{9D8B030D-6E8A-4147-A177-3AD203B41FA5}">
                      <a16:colId xmlns:a16="http://schemas.microsoft.com/office/drawing/2014/main" val="20000"/>
                    </a:ext>
                  </a:extLst>
                </a:gridCol>
                <a:gridCol w="1568113">
                  <a:extLst>
                    <a:ext uri="{9D8B030D-6E8A-4147-A177-3AD203B41FA5}">
                      <a16:colId xmlns:a16="http://schemas.microsoft.com/office/drawing/2014/main" val="20001"/>
                    </a:ext>
                  </a:extLst>
                </a:gridCol>
                <a:gridCol w="2439286">
                  <a:extLst>
                    <a:ext uri="{9D8B030D-6E8A-4147-A177-3AD203B41FA5}">
                      <a16:colId xmlns:a16="http://schemas.microsoft.com/office/drawing/2014/main" val="20002"/>
                    </a:ext>
                  </a:extLst>
                </a:gridCol>
                <a:gridCol w="876401">
                  <a:extLst>
                    <a:ext uri="{9D8B030D-6E8A-4147-A177-3AD203B41FA5}">
                      <a16:colId xmlns:a16="http://schemas.microsoft.com/office/drawing/2014/main" val="20003"/>
                    </a:ext>
                  </a:extLst>
                </a:gridCol>
              </a:tblGrid>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Zone</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Authorized Personnel</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Risk Level</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Z1</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Public Forecourt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General public</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27AE6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Z2</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Ticketed Concourse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Ticket holders, stewards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Z3</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Seating Bowl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Ticket holders, stewards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VIP / Hospitality</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VIP guests, hospitality staff</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Z5</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Media / Press Box</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Accredited media, IT staff</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C66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Z6</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Operations Control Room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Authorized operations staff</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CRITICAL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Z7</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Server Room / NOC</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IT and security staff only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CRITICAL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Z8</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Playing Field</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Teams, officials, authorized staff</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C66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Z9</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Perimeter Service Road</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Vendors, emergency services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C66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Z10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Parking Areas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Ticket holders, badged staff</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1.3 ENTRY POINTS AND ACCESS CONTROL</a:t>
            </a:r>
            <a:endParaRPr lang="en-US" sz="2000" dirty="0"/>
          </a:p>
        </p:txBody>
      </p:sp>
      <p:sp>
        <p:nvSpPr>
          <p:cNvPr id="5" name="Shape 3"/>
          <p:cNvSpPr/>
          <p:nvPr/>
        </p:nvSpPr>
        <p:spPr>
          <a:xfrm>
            <a:off x="274320" y="777240"/>
            <a:ext cx="4069080" cy="1920240"/>
          </a:xfrm>
          <a:prstGeom prst="rect">
            <a:avLst/>
          </a:prstGeom>
          <a:solidFill>
            <a:srgbClr val="FFFFFF"/>
          </a:solidFill>
          <a:ln w="12700">
            <a:solidFill>
              <a:srgbClr val="CADCFC"/>
            </a:solidFill>
            <a:prstDash val="solid"/>
          </a:ln>
        </p:spPr>
      </p:sp>
      <p:sp>
        <p:nvSpPr>
          <p:cNvPr id="6" name="Shape 4"/>
          <p:cNvSpPr/>
          <p:nvPr/>
        </p:nvSpPr>
        <p:spPr>
          <a:xfrm>
            <a:off x="274320" y="777240"/>
            <a:ext cx="4069080" cy="347472"/>
          </a:xfrm>
          <a:prstGeom prst="rect">
            <a:avLst/>
          </a:prstGeom>
          <a:solidFill>
            <a:srgbClr val="1E2761"/>
          </a:solidFill>
          <a:ln w="12700">
            <a:solidFill>
              <a:srgbClr val="1E2761"/>
            </a:solidFill>
            <a:prstDash val="solid"/>
          </a:ln>
        </p:spPr>
      </p:sp>
      <p:sp>
        <p:nvSpPr>
          <p:cNvPr id="7" name="Text 5"/>
          <p:cNvSpPr/>
          <p:nvPr/>
        </p:nvSpPr>
        <p:spPr>
          <a:xfrm>
            <a:off x="365760" y="804672"/>
            <a:ext cx="384048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Pedestrian Entry Gates</a:t>
            </a:r>
            <a:endParaRPr lang="en-US" sz="1200" dirty="0"/>
          </a:p>
        </p:txBody>
      </p:sp>
      <p:sp>
        <p:nvSpPr>
          <p:cNvPr id="8" name="Text 6"/>
          <p:cNvSpPr/>
          <p:nvPr/>
        </p:nvSpPr>
        <p:spPr>
          <a:xfrm>
            <a:off x="365760" y="1188720"/>
            <a:ext cx="3749040" cy="146304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Gates A, B, C  Main gates for majority of spectators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Gates D, E, F, G  Secondary gates for additional access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Gate H  Emergency egress only; not used for standard entry</a:t>
            </a:r>
            <a:endParaRPr lang="en-US" sz="1100" dirty="0"/>
          </a:p>
        </p:txBody>
      </p:sp>
      <p:sp>
        <p:nvSpPr>
          <p:cNvPr id="9" name="Shape 7"/>
          <p:cNvSpPr/>
          <p:nvPr/>
        </p:nvSpPr>
        <p:spPr>
          <a:xfrm>
            <a:off x="4800600" y="777240"/>
            <a:ext cx="4069080" cy="1920240"/>
          </a:xfrm>
          <a:prstGeom prst="rect">
            <a:avLst/>
          </a:prstGeom>
          <a:solidFill>
            <a:srgbClr val="FFFFFF"/>
          </a:solidFill>
          <a:ln w="12700">
            <a:solidFill>
              <a:srgbClr val="CADCFC"/>
            </a:solidFill>
            <a:prstDash val="solid"/>
          </a:ln>
        </p:spPr>
      </p:sp>
      <p:sp>
        <p:nvSpPr>
          <p:cNvPr id="10" name="Shape 8"/>
          <p:cNvSpPr/>
          <p:nvPr/>
        </p:nvSpPr>
        <p:spPr>
          <a:xfrm>
            <a:off x="4800600" y="777240"/>
            <a:ext cx="4069080" cy="347472"/>
          </a:xfrm>
          <a:prstGeom prst="rect">
            <a:avLst/>
          </a:prstGeom>
          <a:solidFill>
            <a:srgbClr val="1E2761"/>
          </a:solidFill>
          <a:ln w="12700">
            <a:solidFill>
              <a:srgbClr val="1E2761"/>
            </a:solidFill>
            <a:prstDash val="solid"/>
          </a:ln>
        </p:spPr>
      </p:sp>
      <p:sp>
        <p:nvSpPr>
          <p:cNvPr id="11" name="Text 9"/>
          <p:cNvSpPr/>
          <p:nvPr/>
        </p:nvSpPr>
        <p:spPr>
          <a:xfrm>
            <a:off x="4892040" y="804672"/>
            <a:ext cx="384048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Vehicle Entry Points</a:t>
            </a:r>
            <a:endParaRPr lang="en-US" sz="1200" dirty="0"/>
          </a:p>
        </p:txBody>
      </p:sp>
      <p:sp>
        <p:nvSpPr>
          <p:cNvPr id="12" name="Text 10"/>
          <p:cNvSpPr/>
          <p:nvPr/>
        </p:nvSpPr>
        <p:spPr>
          <a:xfrm>
            <a:off x="4892040" y="1188720"/>
            <a:ext cx="3749040" cy="146304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V1 North  Primary access for VIP and official vehicles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V2 South Service Gate  Vendor, catering, and delivery vehicles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V3 Emergency Access West  Reserved for emergency services</a:t>
            </a:r>
            <a:endParaRPr lang="en-US" sz="1100" dirty="0"/>
          </a:p>
        </p:txBody>
      </p:sp>
      <p:sp>
        <p:nvSpPr>
          <p:cNvPr id="13" name="Text 11"/>
          <p:cNvSpPr/>
          <p:nvPr/>
        </p:nvSpPr>
        <p:spPr>
          <a:xfrm>
            <a:off x="274320" y="2834640"/>
            <a:ext cx="859536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Access Control Technologies by Zone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3200400"/>
          <a:ext cx="8412480" cy="1810512"/>
        </p:xfrm>
        <a:graphic>
          <a:graphicData uri="http://schemas.openxmlformats.org/drawingml/2006/table">
            <a:tbl>
              <a:tblPr/>
              <a:tblGrid>
                <a:gridCol w="2286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0175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Zone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Primary Control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Secondary Control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0175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Z1 — Public Forecourt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None (open public access)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Uniformed steward patrols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Z2 — Ticketed Concourse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Barcode / NFC ticket scanning at turnstile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Visual bag search by stewards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Z4 — VIP Hospitality</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RFID smart card + PIN keypad</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Biometric fingerprint scan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Z6 — Control Room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RFID card + biometric fingerprint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Video intercom, guard approval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Z7 — Server Room / NOC</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Iris scan + PIN + RFID card (3-factor)</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Mantrap airlock — single occupancy</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1.4 HIGHEST RISK ACCESS POINTS</a:t>
            </a:r>
            <a:endParaRPr lang="en-US" sz="2000" dirty="0"/>
          </a:p>
        </p:txBody>
      </p:sp>
      <p:sp>
        <p:nvSpPr>
          <p:cNvPr id="5" name="Shape 3"/>
          <p:cNvSpPr/>
          <p:nvPr/>
        </p:nvSpPr>
        <p:spPr>
          <a:xfrm>
            <a:off x="274320" y="777240"/>
            <a:ext cx="2651760" cy="1920240"/>
          </a:xfrm>
          <a:prstGeom prst="rect">
            <a:avLst/>
          </a:prstGeom>
          <a:solidFill>
            <a:srgbClr val="FFFFFF"/>
          </a:solidFill>
          <a:ln w="12700">
            <a:solidFill>
              <a:srgbClr val="C0392B"/>
            </a:solidFill>
            <a:prstDash val="solid"/>
          </a:ln>
        </p:spPr>
      </p:sp>
      <p:sp>
        <p:nvSpPr>
          <p:cNvPr id="6" name="Shape 4"/>
          <p:cNvSpPr/>
          <p:nvPr/>
        </p:nvSpPr>
        <p:spPr>
          <a:xfrm>
            <a:off x="274320" y="777240"/>
            <a:ext cx="2651760" cy="73152"/>
          </a:xfrm>
          <a:prstGeom prst="rect">
            <a:avLst/>
          </a:prstGeom>
          <a:solidFill>
            <a:srgbClr val="C0392B"/>
          </a:solidFill>
          <a:ln w="12700">
            <a:solidFill>
              <a:srgbClr val="C0392B"/>
            </a:solidFill>
            <a:prstDash val="solid"/>
          </a:ln>
        </p:spPr>
      </p:sp>
      <p:sp>
        <p:nvSpPr>
          <p:cNvPr id="7" name="Text 5"/>
          <p:cNvSpPr/>
          <p:nvPr/>
        </p:nvSpPr>
        <p:spPr>
          <a:xfrm>
            <a:off x="365760" y="886968"/>
            <a:ext cx="246888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Gate A — North Main Entrance</a:t>
            </a:r>
            <a:endParaRPr lang="en-US" sz="1100" dirty="0"/>
          </a:p>
        </p:txBody>
      </p:sp>
      <p:sp>
        <p:nvSpPr>
          <p:cNvPr id="8" name="Shape 6"/>
          <p:cNvSpPr/>
          <p:nvPr/>
        </p:nvSpPr>
        <p:spPr>
          <a:xfrm>
            <a:off x="365760" y="1417320"/>
            <a:ext cx="1005840" cy="256032"/>
          </a:xfrm>
          <a:prstGeom prst="roundRect">
            <a:avLst>
              <a:gd name="adj" fmla="val 14286"/>
            </a:avLst>
          </a:prstGeom>
          <a:solidFill>
            <a:srgbClr val="C0392B"/>
          </a:solidFill>
          <a:ln w="12700">
            <a:solidFill>
              <a:srgbClr val="C0392B"/>
            </a:solidFill>
            <a:prstDash val="solid"/>
          </a:ln>
        </p:spPr>
      </p:sp>
      <p:sp>
        <p:nvSpPr>
          <p:cNvPr id="9" name="Text 7"/>
          <p:cNvSpPr/>
          <p:nvPr/>
        </p:nvSpPr>
        <p:spPr>
          <a:xfrm>
            <a:off x="365760" y="1417320"/>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10" name="Text 8"/>
          <p:cNvSpPr/>
          <p:nvPr/>
        </p:nvSpPr>
        <p:spPr>
          <a:xfrm>
            <a:off x="365760" y="1737360"/>
            <a:ext cx="2468880" cy="91440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Busiest entrance, high crowd density. Risk of ticket fraud and crowd surge. Requires multiple ticket scanners, CCTV, and metal detectors.</a:t>
            </a:r>
            <a:endParaRPr lang="en-US" sz="950" dirty="0"/>
          </a:p>
        </p:txBody>
      </p:sp>
      <p:sp>
        <p:nvSpPr>
          <p:cNvPr id="11" name="Shape 9"/>
          <p:cNvSpPr/>
          <p:nvPr/>
        </p:nvSpPr>
        <p:spPr>
          <a:xfrm>
            <a:off x="3154680" y="777240"/>
            <a:ext cx="2651760" cy="1920240"/>
          </a:xfrm>
          <a:prstGeom prst="rect">
            <a:avLst/>
          </a:prstGeom>
          <a:solidFill>
            <a:srgbClr val="FFFFFF"/>
          </a:solidFill>
          <a:ln w="12700">
            <a:solidFill>
              <a:srgbClr val="C0392B"/>
            </a:solidFill>
            <a:prstDash val="solid"/>
          </a:ln>
        </p:spPr>
      </p:sp>
      <p:sp>
        <p:nvSpPr>
          <p:cNvPr id="12" name="Shape 10"/>
          <p:cNvSpPr/>
          <p:nvPr/>
        </p:nvSpPr>
        <p:spPr>
          <a:xfrm>
            <a:off x="3154680" y="777240"/>
            <a:ext cx="2651760" cy="73152"/>
          </a:xfrm>
          <a:prstGeom prst="rect">
            <a:avLst/>
          </a:prstGeom>
          <a:solidFill>
            <a:srgbClr val="C0392B"/>
          </a:solidFill>
          <a:ln w="12700">
            <a:solidFill>
              <a:srgbClr val="C0392B"/>
            </a:solidFill>
            <a:prstDash val="solid"/>
          </a:ln>
        </p:spPr>
      </p:sp>
      <p:sp>
        <p:nvSpPr>
          <p:cNvPr id="13" name="Text 11"/>
          <p:cNvSpPr/>
          <p:nvPr/>
        </p:nvSpPr>
        <p:spPr>
          <a:xfrm>
            <a:off x="3246120" y="886968"/>
            <a:ext cx="246888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V2 — South Service Gate</a:t>
            </a:r>
            <a:endParaRPr lang="en-US" sz="1100" dirty="0"/>
          </a:p>
        </p:txBody>
      </p:sp>
      <p:sp>
        <p:nvSpPr>
          <p:cNvPr id="14" name="Shape 12"/>
          <p:cNvSpPr/>
          <p:nvPr/>
        </p:nvSpPr>
        <p:spPr>
          <a:xfrm>
            <a:off x="3246120" y="1417320"/>
            <a:ext cx="1005840" cy="256032"/>
          </a:xfrm>
          <a:prstGeom prst="roundRect">
            <a:avLst>
              <a:gd name="adj" fmla="val 14286"/>
            </a:avLst>
          </a:prstGeom>
          <a:solidFill>
            <a:srgbClr val="C0392B"/>
          </a:solidFill>
          <a:ln w="12700">
            <a:solidFill>
              <a:srgbClr val="C0392B"/>
            </a:solidFill>
            <a:prstDash val="solid"/>
          </a:ln>
        </p:spPr>
      </p:sp>
      <p:sp>
        <p:nvSpPr>
          <p:cNvPr id="15" name="Text 13"/>
          <p:cNvSpPr/>
          <p:nvPr/>
        </p:nvSpPr>
        <p:spPr>
          <a:xfrm>
            <a:off x="3246120" y="1417320"/>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16" name="Text 14"/>
          <p:cNvSpPr/>
          <p:nvPr/>
        </p:nvSpPr>
        <p:spPr>
          <a:xfrm>
            <a:off x="3246120" y="1737360"/>
            <a:ext cx="2468880" cy="91440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All vendor/delivery vehicles use this gate. Fake deliveries can smuggle unauthorized people or dangerous devices. All deliveries must be pre-registered.</a:t>
            </a:r>
            <a:endParaRPr lang="en-US" sz="950" dirty="0"/>
          </a:p>
        </p:txBody>
      </p:sp>
      <p:sp>
        <p:nvSpPr>
          <p:cNvPr id="17" name="Shape 15"/>
          <p:cNvSpPr/>
          <p:nvPr/>
        </p:nvSpPr>
        <p:spPr>
          <a:xfrm>
            <a:off x="6035040" y="777240"/>
            <a:ext cx="2651760" cy="1920240"/>
          </a:xfrm>
          <a:prstGeom prst="rect">
            <a:avLst/>
          </a:prstGeom>
          <a:solidFill>
            <a:srgbClr val="FFFFFF"/>
          </a:solidFill>
          <a:ln w="12700">
            <a:solidFill>
              <a:srgbClr val="C0392B"/>
            </a:solidFill>
            <a:prstDash val="solid"/>
          </a:ln>
        </p:spPr>
      </p:sp>
      <p:sp>
        <p:nvSpPr>
          <p:cNvPr id="18" name="Shape 16"/>
          <p:cNvSpPr/>
          <p:nvPr/>
        </p:nvSpPr>
        <p:spPr>
          <a:xfrm>
            <a:off x="6035040" y="777240"/>
            <a:ext cx="2651760" cy="73152"/>
          </a:xfrm>
          <a:prstGeom prst="rect">
            <a:avLst/>
          </a:prstGeom>
          <a:solidFill>
            <a:srgbClr val="C0392B"/>
          </a:solidFill>
          <a:ln w="12700">
            <a:solidFill>
              <a:srgbClr val="C0392B"/>
            </a:solidFill>
            <a:prstDash val="solid"/>
          </a:ln>
        </p:spPr>
      </p:sp>
      <p:sp>
        <p:nvSpPr>
          <p:cNvPr id="19" name="Text 17"/>
          <p:cNvSpPr/>
          <p:nvPr/>
        </p:nvSpPr>
        <p:spPr>
          <a:xfrm>
            <a:off x="6126480" y="886968"/>
            <a:ext cx="246888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Z7 — Server Room / NOC</a:t>
            </a:r>
            <a:endParaRPr lang="en-US" sz="1100" dirty="0"/>
          </a:p>
        </p:txBody>
      </p:sp>
      <p:sp>
        <p:nvSpPr>
          <p:cNvPr id="20" name="Shape 18"/>
          <p:cNvSpPr/>
          <p:nvPr/>
        </p:nvSpPr>
        <p:spPr>
          <a:xfrm>
            <a:off x="6126480" y="1417320"/>
            <a:ext cx="1005840" cy="256032"/>
          </a:xfrm>
          <a:prstGeom prst="roundRect">
            <a:avLst>
              <a:gd name="adj" fmla="val 14286"/>
            </a:avLst>
          </a:prstGeom>
          <a:solidFill>
            <a:srgbClr val="C0392B"/>
          </a:solidFill>
          <a:ln w="12700">
            <a:solidFill>
              <a:srgbClr val="C0392B"/>
            </a:solidFill>
            <a:prstDash val="solid"/>
          </a:ln>
        </p:spPr>
      </p:sp>
      <p:sp>
        <p:nvSpPr>
          <p:cNvPr id="21" name="Text 19"/>
          <p:cNvSpPr/>
          <p:nvPr/>
        </p:nvSpPr>
        <p:spPr>
          <a:xfrm>
            <a:off x="6126480" y="1417320"/>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22" name="Text 20"/>
          <p:cNvSpPr/>
          <p:nvPr/>
        </p:nvSpPr>
        <p:spPr>
          <a:xfrm>
            <a:off x="6126480" y="1737360"/>
            <a:ext cx="2468880" cy="91440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Controls entire stadium network including cameras, PA system, and emergency comms. Requires three-factor authentication and security door.</a:t>
            </a:r>
            <a:endParaRPr lang="en-US" sz="950" dirty="0"/>
          </a:p>
        </p:txBody>
      </p:sp>
      <p:sp>
        <p:nvSpPr>
          <p:cNvPr id="23" name="Shape 21"/>
          <p:cNvSpPr/>
          <p:nvPr/>
        </p:nvSpPr>
        <p:spPr>
          <a:xfrm>
            <a:off x="1527048" y="2880360"/>
            <a:ext cx="2651760" cy="1920240"/>
          </a:xfrm>
          <a:prstGeom prst="rect">
            <a:avLst/>
          </a:prstGeom>
          <a:solidFill>
            <a:srgbClr val="FFFFFF"/>
          </a:solidFill>
          <a:ln w="12700">
            <a:solidFill>
              <a:srgbClr val="CC6600"/>
            </a:solidFill>
            <a:prstDash val="solid"/>
          </a:ln>
        </p:spPr>
      </p:sp>
      <p:sp>
        <p:nvSpPr>
          <p:cNvPr id="24" name="Shape 22"/>
          <p:cNvSpPr/>
          <p:nvPr/>
        </p:nvSpPr>
        <p:spPr>
          <a:xfrm>
            <a:off x="1527048" y="2880360"/>
            <a:ext cx="2651760" cy="73152"/>
          </a:xfrm>
          <a:prstGeom prst="rect">
            <a:avLst/>
          </a:prstGeom>
          <a:solidFill>
            <a:srgbClr val="CC6600"/>
          </a:solidFill>
          <a:ln w="12700">
            <a:solidFill>
              <a:srgbClr val="CC6600"/>
            </a:solidFill>
            <a:prstDash val="solid"/>
          </a:ln>
        </p:spPr>
      </p:sp>
      <p:sp>
        <p:nvSpPr>
          <p:cNvPr id="25" name="Text 23"/>
          <p:cNvSpPr/>
          <p:nvPr/>
        </p:nvSpPr>
        <p:spPr>
          <a:xfrm>
            <a:off x="1618488" y="2990088"/>
            <a:ext cx="246888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Gate G — Media West</a:t>
            </a:r>
            <a:endParaRPr lang="en-US" sz="1100" dirty="0"/>
          </a:p>
        </p:txBody>
      </p:sp>
      <p:sp>
        <p:nvSpPr>
          <p:cNvPr id="26" name="Shape 24"/>
          <p:cNvSpPr/>
          <p:nvPr/>
        </p:nvSpPr>
        <p:spPr>
          <a:xfrm>
            <a:off x="1618488" y="3520440"/>
            <a:ext cx="1005840" cy="256032"/>
          </a:xfrm>
          <a:prstGeom prst="roundRect">
            <a:avLst>
              <a:gd name="adj" fmla="val 14286"/>
            </a:avLst>
          </a:prstGeom>
          <a:solidFill>
            <a:srgbClr val="CC6600"/>
          </a:solidFill>
          <a:ln w="12700">
            <a:solidFill>
              <a:srgbClr val="CC6600"/>
            </a:solidFill>
            <a:prstDash val="solid"/>
          </a:ln>
        </p:spPr>
      </p:sp>
      <p:sp>
        <p:nvSpPr>
          <p:cNvPr id="27" name="Text 25"/>
          <p:cNvSpPr/>
          <p:nvPr/>
        </p:nvSpPr>
        <p:spPr>
          <a:xfrm>
            <a:off x="1618488" y="3520440"/>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8" name="Text 26"/>
          <p:cNvSpPr/>
          <p:nvPr/>
        </p:nvSpPr>
        <p:spPr>
          <a:xfrm>
            <a:off x="1618488" y="3840480"/>
            <a:ext cx="2468880" cy="91440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Media passes are easy to copy. Camera bags can hide unauthorized devices. All media credentials and equipment must be checked before entry.</a:t>
            </a:r>
            <a:endParaRPr lang="en-US" sz="950" dirty="0"/>
          </a:p>
        </p:txBody>
      </p:sp>
      <p:sp>
        <p:nvSpPr>
          <p:cNvPr id="29" name="Shape 27"/>
          <p:cNvSpPr/>
          <p:nvPr/>
        </p:nvSpPr>
        <p:spPr>
          <a:xfrm>
            <a:off x="4407408" y="2880360"/>
            <a:ext cx="2651760" cy="1920240"/>
          </a:xfrm>
          <a:prstGeom prst="rect">
            <a:avLst/>
          </a:prstGeom>
          <a:solidFill>
            <a:srgbClr val="FFFFFF"/>
          </a:solidFill>
          <a:ln w="12700">
            <a:solidFill>
              <a:srgbClr val="CC6600"/>
            </a:solidFill>
            <a:prstDash val="solid"/>
          </a:ln>
        </p:spPr>
      </p:sp>
      <p:sp>
        <p:nvSpPr>
          <p:cNvPr id="30" name="Shape 28"/>
          <p:cNvSpPr/>
          <p:nvPr/>
        </p:nvSpPr>
        <p:spPr>
          <a:xfrm>
            <a:off x="4407408" y="2880360"/>
            <a:ext cx="2651760" cy="73152"/>
          </a:xfrm>
          <a:prstGeom prst="rect">
            <a:avLst/>
          </a:prstGeom>
          <a:solidFill>
            <a:srgbClr val="CC6600"/>
          </a:solidFill>
          <a:ln w="12700">
            <a:solidFill>
              <a:srgbClr val="CC6600"/>
            </a:solidFill>
            <a:prstDash val="solid"/>
          </a:ln>
        </p:spPr>
      </p:sp>
      <p:sp>
        <p:nvSpPr>
          <p:cNvPr id="31" name="Text 29"/>
          <p:cNvSpPr/>
          <p:nvPr/>
        </p:nvSpPr>
        <p:spPr>
          <a:xfrm>
            <a:off x="4498848" y="2990088"/>
            <a:ext cx="246888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V3 — Emergency Access West</a:t>
            </a:r>
            <a:endParaRPr lang="en-US" sz="1100" dirty="0"/>
          </a:p>
        </p:txBody>
      </p:sp>
      <p:sp>
        <p:nvSpPr>
          <p:cNvPr id="32" name="Shape 30"/>
          <p:cNvSpPr/>
          <p:nvPr/>
        </p:nvSpPr>
        <p:spPr>
          <a:xfrm>
            <a:off x="4498848" y="3520440"/>
            <a:ext cx="1005840" cy="256032"/>
          </a:xfrm>
          <a:prstGeom prst="roundRect">
            <a:avLst>
              <a:gd name="adj" fmla="val 14286"/>
            </a:avLst>
          </a:prstGeom>
          <a:solidFill>
            <a:srgbClr val="CC6600"/>
          </a:solidFill>
          <a:ln w="12700">
            <a:solidFill>
              <a:srgbClr val="CC6600"/>
            </a:solidFill>
            <a:prstDash val="solid"/>
          </a:ln>
        </p:spPr>
      </p:sp>
      <p:sp>
        <p:nvSpPr>
          <p:cNvPr id="33" name="Text 31"/>
          <p:cNvSpPr/>
          <p:nvPr/>
        </p:nvSpPr>
        <p:spPr>
          <a:xfrm>
            <a:off x="4498848" y="3520440"/>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34" name="Text 32"/>
          <p:cNvSpPr/>
          <p:nvPr/>
        </p:nvSpPr>
        <p:spPr>
          <a:xfrm>
            <a:off x="4498848" y="3840480"/>
            <a:ext cx="2468880" cy="91440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Opened on request with a key. Attacker can impersonate emergency services. Guards must verify callouts with control room before opening.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1.5 SURVEILLANCE AND MONITORING (266 CAMERAS)</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6812280" cy="4160520"/>
        </p:xfrm>
        <a:graphic>
          <a:graphicData uri="http://schemas.openxmlformats.org/drawingml/2006/table">
            <a:tbl>
              <a:tblPr/>
              <a:tblGrid>
                <a:gridCol w="219456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2004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Location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Qty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Camera Type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Function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Classification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Entry Gates (A–D)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24</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Fixed 4K bullet</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Entry monitoring</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27AE60"/>
                          </a:solidFill>
                          <a:latin typeface="Calibri" pitchFamily="34" charset="0"/>
                          <a:ea typeface="Calibri" pitchFamily="34" charset="-122"/>
                          <a:cs typeface="Calibri" pitchFamily="34" charset="-120"/>
                        </a:rPr>
                        <a:t>PREVENTIVE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Forecourts (all sides)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PTZ dome 4K</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Crowd monitoring</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27AE60"/>
                          </a:solidFill>
                          <a:latin typeface="Calibri" pitchFamily="34" charset="0"/>
                          <a:ea typeface="Calibri" pitchFamily="34" charset="-122"/>
                          <a:cs typeface="Calibri" pitchFamily="34" charset="-120"/>
                        </a:rPr>
                        <a:t>PREVENTIVE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Concourse (all levels)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Fisheye 360°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Full coverage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DETECTIVE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Seating Bowl</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PTZ long-range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Crowd detection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DETECTIVE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NOC / Server Room</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Fixed 4K internal</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Physical security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DETECTIVE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Parking Areas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PTZ + pole-mounted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Vehicle monitoring</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E67E22"/>
                          </a:solidFill>
                          <a:latin typeface="Calibri" pitchFamily="34" charset="0"/>
                          <a:ea typeface="Calibri" pitchFamily="34" charset="-122"/>
                          <a:cs typeface="Calibri" pitchFamily="34" charset="-120"/>
                        </a:rPr>
                        <a:t>CORRECTIVE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Emergency Exits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24</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Sensor-triggered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Door alarm coverage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E67E22"/>
                          </a:solidFill>
                          <a:latin typeface="Calibri" pitchFamily="34" charset="0"/>
                          <a:ea typeface="Calibri" pitchFamily="34" charset="-122"/>
                          <a:cs typeface="Calibri" pitchFamily="34" charset="-120"/>
                        </a:rPr>
                        <a:t>CORRECTIVE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Stairwells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Fixed 2MP dome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Flow monitoring</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DETECTIVE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Vehicle Checkpoints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ANPR + overview</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Plate recognition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27AE60"/>
                          </a:solidFill>
                          <a:latin typeface="Calibri" pitchFamily="34" charset="0"/>
                          <a:ea typeface="Calibri" pitchFamily="34" charset="-122"/>
                          <a:cs typeface="Calibri" pitchFamily="34" charset="-120"/>
                        </a:rPr>
                        <a:t>PREVENTIVE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Roof / Plant Access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Motion-activated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Intrusion detection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DETECTIVE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VIP Suite Corridors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Fixed 4K dome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Access monitoring</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DETECTIVE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00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Perimeter Service Road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PTZ wide-angle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Vehicle &amp; staff checks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DETECTIVE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1.5 BLIND SPOTS &amp; LIGHTING STANDARDS</a:t>
            </a:r>
            <a:endParaRPr lang="en-US" sz="2000" dirty="0"/>
          </a:p>
        </p:txBody>
      </p:sp>
      <p:sp>
        <p:nvSpPr>
          <p:cNvPr id="5" name="Shape 3"/>
          <p:cNvSpPr/>
          <p:nvPr/>
        </p:nvSpPr>
        <p:spPr>
          <a:xfrm>
            <a:off x="274320" y="777240"/>
            <a:ext cx="4114800" cy="4069080"/>
          </a:xfrm>
          <a:prstGeom prst="rect">
            <a:avLst/>
          </a:prstGeom>
          <a:solidFill>
            <a:srgbClr val="FFFFFF"/>
          </a:solidFill>
          <a:ln w="12700">
            <a:solidFill>
              <a:srgbClr val="CADCFC"/>
            </a:solidFill>
            <a:prstDash val="solid"/>
          </a:ln>
        </p:spPr>
      </p:sp>
      <p:sp>
        <p:nvSpPr>
          <p:cNvPr id="6" name="Shape 4"/>
          <p:cNvSpPr/>
          <p:nvPr/>
        </p:nvSpPr>
        <p:spPr>
          <a:xfrm>
            <a:off x="274320" y="777240"/>
            <a:ext cx="4114800" cy="384048"/>
          </a:xfrm>
          <a:prstGeom prst="rect">
            <a:avLst/>
          </a:prstGeom>
          <a:solidFill>
            <a:srgbClr val="E05C5C"/>
          </a:solidFill>
          <a:ln w="12700">
            <a:solidFill>
              <a:srgbClr val="E05C5C"/>
            </a:solidFill>
            <a:prstDash val="solid"/>
          </a:ln>
        </p:spPr>
      </p:sp>
      <p:sp>
        <p:nvSpPr>
          <p:cNvPr id="7" name="Text 5"/>
          <p:cNvSpPr/>
          <p:nvPr/>
        </p:nvSpPr>
        <p:spPr>
          <a:xfrm>
            <a:off x="365760" y="795528"/>
            <a:ext cx="3840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Identified Blind Spots</a:t>
            </a:r>
            <a:endParaRPr lang="en-US" sz="1300" dirty="0"/>
          </a:p>
        </p:txBody>
      </p:sp>
      <p:sp>
        <p:nvSpPr>
          <p:cNvPr id="8" name="Text 6"/>
          <p:cNvSpPr/>
          <p:nvPr/>
        </p:nvSpPr>
        <p:spPr>
          <a:xfrm>
            <a:off x="365760" y="1234440"/>
            <a:ext cx="3840480" cy="3474720"/>
          </a:xfrm>
          <a:prstGeom prst="rect">
            <a:avLst/>
          </a:prstGeom>
          <a:noFill/>
          <a:ln/>
        </p:spPr>
        <p:txBody>
          <a:bodyPr wrap="square" rtlCol="0" anchor="t"/>
          <a:lstStyle/>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Behind pillars — add cameras at base of each pillar</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Bathroom entrances — wide-angle cameras in leading corridors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Under vehicle areas at entry gates — use mirror scanners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Rooftop areas — motion-activated cameras on maintenance walkways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Emergency exit exteriors — cameras covering area around every emergency door</a:t>
            </a:r>
            <a:endParaRPr lang="en-US" sz="1200" dirty="0"/>
          </a:p>
        </p:txBody>
      </p:sp>
      <p:sp>
        <p:nvSpPr>
          <p:cNvPr id="9" name="Shape 7"/>
          <p:cNvSpPr/>
          <p:nvPr/>
        </p:nvSpPr>
        <p:spPr>
          <a:xfrm>
            <a:off x="4754880" y="777240"/>
            <a:ext cx="4114800" cy="4069080"/>
          </a:xfrm>
          <a:prstGeom prst="rect">
            <a:avLst/>
          </a:prstGeom>
          <a:solidFill>
            <a:srgbClr val="FFFFFF"/>
          </a:solidFill>
          <a:ln w="12700">
            <a:solidFill>
              <a:srgbClr val="CADCFC"/>
            </a:solidFill>
            <a:prstDash val="solid"/>
          </a:ln>
        </p:spPr>
      </p:sp>
      <p:sp>
        <p:nvSpPr>
          <p:cNvPr id="10" name="Shape 8"/>
          <p:cNvSpPr/>
          <p:nvPr/>
        </p:nvSpPr>
        <p:spPr>
          <a:xfrm>
            <a:off x="4754880" y="777240"/>
            <a:ext cx="4114800" cy="384048"/>
          </a:xfrm>
          <a:prstGeom prst="rect">
            <a:avLst/>
          </a:prstGeom>
          <a:solidFill>
            <a:srgbClr val="1E2761"/>
          </a:solidFill>
          <a:ln w="12700">
            <a:solidFill>
              <a:srgbClr val="1E2761"/>
            </a:solidFill>
            <a:prstDash val="solid"/>
          </a:ln>
        </p:spPr>
      </p:sp>
      <p:sp>
        <p:nvSpPr>
          <p:cNvPr id="11" name="Text 9"/>
          <p:cNvSpPr/>
          <p:nvPr/>
        </p:nvSpPr>
        <p:spPr>
          <a:xfrm>
            <a:off x="4846320" y="795528"/>
            <a:ext cx="3840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Lighting Standards</a:t>
            </a:r>
            <a:endParaRPr lang="en-US" sz="1300" dirty="0"/>
          </a:p>
        </p:txBody>
      </p:sp>
      <p:sp>
        <p:nvSpPr>
          <p:cNvPr id="12" name="Text 10"/>
          <p:cNvSpPr/>
          <p:nvPr/>
        </p:nvSpPr>
        <p:spPr>
          <a:xfrm>
            <a:off x="4846320" y="1234440"/>
            <a:ext cx="3840480" cy="3474720"/>
          </a:xfrm>
          <a:prstGeom prst="rect">
            <a:avLst/>
          </a:prstGeom>
          <a:noFill/>
          <a:ln/>
        </p:spPr>
        <p:txBody>
          <a:bodyPr wrap="square" rtlCol="0" anchor="t"/>
          <a:lstStyle/>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Parking lots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Entry gates and concourse areas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Emergency exits and hallways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Staircases and restricted zone corridors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Server room and NOC</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Text 1"/>
          <p:cNvSpPr/>
          <p:nvPr/>
        </p:nvSpPr>
        <p:spPr>
          <a:xfrm>
            <a:off x="640080" y="1371600"/>
            <a:ext cx="7772400" cy="548640"/>
          </a:xfrm>
          <a:prstGeom prst="rect">
            <a:avLst/>
          </a:prstGeom>
          <a:noFill/>
          <a:ln/>
        </p:spPr>
        <p:txBody>
          <a:bodyPr wrap="square" rtlCol="0" anchor="ctr"/>
          <a:lstStyle/>
          <a:p>
            <a:pPr marL="0" indent="0">
              <a:buNone/>
            </a:pPr>
            <a:r>
              <a:rPr lang="en-US" sz="1400" b="1" kern="0" spc="500" dirty="0">
                <a:solidFill>
                  <a:srgbClr val="E05C5C"/>
                </a:solidFill>
                <a:latin typeface="Calibri" pitchFamily="34" charset="0"/>
                <a:ea typeface="Calibri" pitchFamily="34" charset="-122"/>
                <a:cs typeface="Calibri" pitchFamily="34" charset="-120"/>
              </a:rPr>
              <a:t>SECTION 2</a:t>
            </a:r>
            <a:endParaRPr lang="en-US" sz="1400" dirty="0"/>
          </a:p>
        </p:txBody>
      </p:sp>
      <p:sp>
        <p:nvSpPr>
          <p:cNvPr id="4" name="Text 2"/>
          <p:cNvSpPr/>
          <p:nvPr/>
        </p:nvSpPr>
        <p:spPr>
          <a:xfrm>
            <a:off x="640080" y="1920240"/>
            <a:ext cx="7772400"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Network and Wireless Perimeter</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2.1 NETWORK INFRASTRUCTURE — VLAN DESIGN</a:t>
            </a:r>
            <a:endParaRPr lang="en-US" sz="2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4389120"/>
        </p:xfrm>
        <a:graphic>
          <a:graphicData uri="http://schemas.openxmlformats.org/drawingml/2006/table">
            <a:tbl>
              <a:tblPr/>
              <a:tblGrid>
                <a:gridCol w="640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tblGrid>
              <a:tr h="36576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VLAN ID</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IP Subnet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IT Management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10.0.10.0/24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NOC and IT staff management access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Staff WiFi</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10.0.20.0/23</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All operational staff wireless access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Operations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10.0.30.0/24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Control room and operations systems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Media</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10.0.40.0/24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Broadcast and press equipment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Point of Sale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10.0.50.0/24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Retail and catering POS terminals (PCI-DSS scoped)</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Emergency</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10.0.60.0/24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Emergency services communications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CCTV</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10.0.70.0/24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All surveillance cameras and NVRs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VoIP</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10.0.80.0/24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Internal telephony and PA systems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Public WIFI</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192.168.100.0/22</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Fan-facing public hotspot (Internet only)</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DMZ</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172.16.200.0/24</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Public-facing servers (ticketing, web)</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5760">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999</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Blackhole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All unauthorized/unrecognized device traffic dropped here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2.2 WIRELESS SIGNAL BOUNDARY MANAGEMENT</a:t>
            </a:r>
            <a:endParaRPr lang="en-US" sz="2000" dirty="0"/>
          </a:p>
        </p:txBody>
      </p:sp>
      <p:sp>
        <p:nvSpPr>
          <p:cNvPr id="5" name="Text 3"/>
          <p:cNvSpPr/>
          <p:nvPr/>
        </p:nvSpPr>
        <p:spPr>
          <a:xfrm>
            <a:off x="274320" y="777240"/>
            <a:ext cx="8229600" cy="347472"/>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Signal Containment Methods</a:t>
            </a:r>
            <a:endParaRPr lang="en-US" sz="1400" dirty="0"/>
          </a:p>
        </p:txBody>
      </p:sp>
      <p:sp>
        <p:nvSpPr>
          <p:cNvPr id="6" name="Text 4"/>
          <p:cNvSpPr/>
          <p:nvPr/>
        </p:nvSpPr>
        <p:spPr>
          <a:xfrm>
            <a:off x="274320" y="1188720"/>
            <a:ext cx="4754880" cy="3749040"/>
          </a:xfrm>
          <a:prstGeom prst="rect">
            <a:avLst/>
          </a:prstGeom>
          <a:noFill/>
          <a:ln/>
        </p:spPr>
        <p:txBody>
          <a:bodyPr wrap="square" rtlCol="0" anchor="t"/>
          <a:lstStyle/>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Directional antennas point signals inward, away from streets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Transmit power is reduced to the minimum needed</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WPA3 encryption enabled on all staff wireless networks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Staff network names are hidden — not visible when scanning for networks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MAC address filtering used to block unknown devices</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Wireless Intrusion Detection System (WIDS) deployed</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Regular network scanning to detect any unauthorized access points</a:t>
            </a:r>
            <a:endParaRPr lang="en-US" sz="1200" dirty="0"/>
          </a:p>
        </p:txBody>
      </p:sp>
      <p:sp>
        <p:nvSpPr>
          <p:cNvPr id="7" name="Text 5"/>
          <p:cNvSpPr/>
          <p:nvPr/>
        </p:nvSpPr>
        <p:spPr>
          <a:xfrm>
            <a:off x="5029200" y="777240"/>
            <a:ext cx="3840480" cy="34747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WiFi Signal Spillover Risk by Zone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0" y="1188720"/>
          <a:ext cx="3840480" cy="2743200"/>
        </p:xfrm>
        <a:graphic>
          <a:graphicData uri="http://schemas.openxmlformats.org/drawingml/2006/table">
            <a:tbl>
              <a:tblPr/>
              <a:tblGrid>
                <a:gridCol w="12801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4864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Zone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North Forecourt (Z1)</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C0392B"/>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Directional antennas + TPC reduction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Parking Areas (Z10)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E67E22"/>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Pole-mounted APs with inward antennas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VIP Suite Windows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C0392B"/>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RF shielding film on external windows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Rooftop Plant Area</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27AE6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Minimal AP presence; motion-triggered only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2.3 ROGUE ACCESS POINT DETECTION &amp; RESPONSE</a:t>
            </a:r>
            <a:endParaRPr lang="en-US" sz="2000" dirty="0"/>
          </a:p>
        </p:txBody>
      </p:sp>
      <p:sp>
        <p:nvSpPr>
          <p:cNvPr id="5" name="Shape 3"/>
          <p:cNvSpPr/>
          <p:nvPr/>
        </p:nvSpPr>
        <p:spPr>
          <a:xfrm>
            <a:off x="274320" y="777240"/>
            <a:ext cx="2743200" cy="4069080"/>
          </a:xfrm>
          <a:prstGeom prst="rect">
            <a:avLst/>
          </a:prstGeom>
          <a:solidFill>
            <a:srgbClr val="FFFFFF"/>
          </a:solidFill>
          <a:ln w="12700">
            <a:solidFill>
              <a:srgbClr val="CADCFC"/>
            </a:solidFill>
            <a:prstDash val="solid"/>
          </a:ln>
        </p:spPr>
      </p:sp>
      <p:sp>
        <p:nvSpPr>
          <p:cNvPr id="6" name="Shape 4"/>
          <p:cNvSpPr/>
          <p:nvPr/>
        </p:nvSpPr>
        <p:spPr>
          <a:xfrm>
            <a:off x="274320" y="777240"/>
            <a:ext cx="2743200" cy="73152"/>
          </a:xfrm>
          <a:prstGeom prst="rect">
            <a:avLst/>
          </a:prstGeom>
          <a:solidFill>
            <a:srgbClr val="E05C5C"/>
          </a:solidFill>
          <a:ln w="12700">
            <a:solidFill>
              <a:srgbClr val="E05C5C"/>
            </a:solidFill>
            <a:prstDash val="solid"/>
          </a:ln>
        </p:spPr>
      </p:sp>
      <p:sp>
        <p:nvSpPr>
          <p:cNvPr id="7" name="Text 5"/>
          <p:cNvSpPr/>
          <p:nvPr/>
        </p:nvSpPr>
        <p:spPr>
          <a:xfrm>
            <a:off x="365760" y="886968"/>
            <a:ext cx="2560320" cy="59436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Rogue Detection via Infrastructure</a:t>
            </a:r>
            <a:endParaRPr lang="en-US" sz="1150" dirty="0"/>
          </a:p>
        </p:txBody>
      </p:sp>
      <p:sp>
        <p:nvSpPr>
          <p:cNvPr id="8" name="Text 6"/>
          <p:cNvSpPr/>
          <p:nvPr/>
        </p:nvSpPr>
        <p:spPr>
          <a:xfrm>
            <a:off x="365760" y="1536192"/>
            <a:ext cx="2560320" cy="320040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All access points scan for unknown or suspicious networks while still serving users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Any network pretending to be the official WiFi is automatically blocked</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Alerts sent to the NOC immediately upon detection</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Unused network ports are disabled to prevent unauthorized connections</a:t>
            </a:r>
            <a:endParaRPr lang="en-US" sz="1100" dirty="0"/>
          </a:p>
        </p:txBody>
      </p:sp>
      <p:sp>
        <p:nvSpPr>
          <p:cNvPr id="9" name="Shape 7"/>
          <p:cNvSpPr/>
          <p:nvPr/>
        </p:nvSpPr>
        <p:spPr>
          <a:xfrm>
            <a:off x="3154680" y="777240"/>
            <a:ext cx="2743200" cy="4069080"/>
          </a:xfrm>
          <a:prstGeom prst="rect">
            <a:avLst/>
          </a:prstGeom>
          <a:solidFill>
            <a:srgbClr val="FFFFFF"/>
          </a:solidFill>
          <a:ln w="12700">
            <a:solidFill>
              <a:srgbClr val="CADCFC"/>
            </a:solidFill>
            <a:prstDash val="solid"/>
          </a:ln>
        </p:spPr>
      </p:sp>
      <p:sp>
        <p:nvSpPr>
          <p:cNvPr id="10" name="Shape 8"/>
          <p:cNvSpPr/>
          <p:nvPr/>
        </p:nvSpPr>
        <p:spPr>
          <a:xfrm>
            <a:off x="3154680" y="777240"/>
            <a:ext cx="2743200" cy="73152"/>
          </a:xfrm>
          <a:prstGeom prst="rect">
            <a:avLst/>
          </a:prstGeom>
          <a:solidFill>
            <a:srgbClr val="E05C5C"/>
          </a:solidFill>
          <a:ln w="12700">
            <a:solidFill>
              <a:srgbClr val="E05C5C"/>
            </a:solidFill>
            <a:prstDash val="solid"/>
          </a:ln>
        </p:spPr>
      </p:sp>
      <p:sp>
        <p:nvSpPr>
          <p:cNvPr id="11" name="Text 9"/>
          <p:cNvSpPr/>
          <p:nvPr/>
        </p:nvSpPr>
        <p:spPr>
          <a:xfrm>
            <a:off x="3246120" y="886968"/>
            <a:ext cx="2560320" cy="59436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Wired Rogue Device Detection</a:t>
            </a:r>
            <a:endParaRPr lang="en-US" sz="1150" dirty="0"/>
          </a:p>
        </p:txBody>
      </p:sp>
      <p:sp>
        <p:nvSpPr>
          <p:cNvPr id="12" name="Text 10"/>
          <p:cNvSpPr/>
          <p:nvPr/>
        </p:nvSpPr>
        <p:spPr>
          <a:xfrm>
            <a:off x="3246120" y="1536192"/>
            <a:ext cx="2560320" cy="320040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All devices connecting to the network are verified before access is granted</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Any unrecognized device generates an alert and is blocked</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All switch ports with no active device are disabled</a:t>
            </a:r>
            <a:endParaRPr lang="en-US" sz="1100" dirty="0"/>
          </a:p>
        </p:txBody>
      </p:sp>
      <p:sp>
        <p:nvSpPr>
          <p:cNvPr id="13" name="Shape 11"/>
          <p:cNvSpPr/>
          <p:nvPr/>
        </p:nvSpPr>
        <p:spPr>
          <a:xfrm>
            <a:off x="6035040" y="777240"/>
            <a:ext cx="2743200" cy="4069080"/>
          </a:xfrm>
          <a:prstGeom prst="rect">
            <a:avLst/>
          </a:prstGeom>
          <a:solidFill>
            <a:srgbClr val="FFFFFF"/>
          </a:solidFill>
          <a:ln w="12700">
            <a:solidFill>
              <a:srgbClr val="CADCFC"/>
            </a:solidFill>
            <a:prstDash val="solid"/>
          </a:ln>
        </p:spPr>
      </p:sp>
      <p:sp>
        <p:nvSpPr>
          <p:cNvPr id="14" name="Shape 12"/>
          <p:cNvSpPr/>
          <p:nvPr/>
        </p:nvSpPr>
        <p:spPr>
          <a:xfrm>
            <a:off x="6035040" y="777240"/>
            <a:ext cx="2743200" cy="73152"/>
          </a:xfrm>
          <a:prstGeom prst="rect">
            <a:avLst/>
          </a:prstGeom>
          <a:solidFill>
            <a:srgbClr val="E05C5C"/>
          </a:solidFill>
          <a:ln w="12700">
            <a:solidFill>
              <a:srgbClr val="E05C5C"/>
            </a:solidFill>
            <a:prstDash val="solid"/>
          </a:ln>
        </p:spPr>
      </p:sp>
      <p:sp>
        <p:nvSpPr>
          <p:cNvPr id="15" name="Text 13"/>
          <p:cNvSpPr/>
          <p:nvPr/>
        </p:nvSpPr>
        <p:spPr>
          <a:xfrm>
            <a:off x="6126480" y="886968"/>
            <a:ext cx="2560320" cy="59436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Public WiFi Security Controls</a:t>
            </a:r>
            <a:endParaRPr lang="en-US" sz="1150" dirty="0"/>
          </a:p>
        </p:txBody>
      </p:sp>
      <p:sp>
        <p:nvSpPr>
          <p:cNvPr id="16" name="Text 14"/>
          <p:cNvSpPr/>
          <p:nvPr/>
        </p:nvSpPr>
        <p:spPr>
          <a:xfrm>
            <a:off x="6126480" y="1536192"/>
            <a:ext cx="2560320" cy="320040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Public WiFi on separate guest network (VLAN 100), isolated from staff systems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Every public user must accept terms of service before browsing</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Bandwidth limited per device; firewall filters harmful websites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Client isolation enforced — fans cannot reach other devices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Text 1"/>
          <p:cNvSpPr/>
          <p:nvPr/>
        </p:nvSpPr>
        <p:spPr>
          <a:xfrm>
            <a:off x="640080" y="1371600"/>
            <a:ext cx="7772400" cy="548640"/>
          </a:xfrm>
          <a:prstGeom prst="rect">
            <a:avLst/>
          </a:prstGeom>
          <a:noFill/>
          <a:ln/>
        </p:spPr>
        <p:txBody>
          <a:bodyPr wrap="square" rtlCol="0" anchor="ctr"/>
          <a:lstStyle/>
          <a:p>
            <a:pPr marL="0" indent="0">
              <a:buNone/>
            </a:pPr>
            <a:r>
              <a:rPr lang="en-US" sz="1400" b="1" kern="0" spc="500" dirty="0">
                <a:solidFill>
                  <a:srgbClr val="E05C5C"/>
                </a:solidFill>
                <a:latin typeface="Calibri" pitchFamily="34" charset="0"/>
                <a:ea typeface="Calibri" pitchFamily="34" charset="-122"/>
                <a:cs typeface="Calibri" pitchFamily="34" charset="-120"/>
              </a:rPr>
              <a:t>SECTION 3</a:t>
            </a:r>
            <a:endParaRPr lang="en-US" sz="1400" dirty="0"/>
          </a:p>
        </p:txBody>
      </p:sp>
      <p:sp>
        <p:nvSpPr>
          <p:cNvPr id="4" name="Text 2"/>
          <p:cNvSpPr/>
          <p:nvPr/>
        </p:nvSpPr>
        <p:spPr>
          <a:xfrm>
            <a:off x="640080" y="1920240"/>
            <a:ext cx="7772400"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Human Operational Factors</a:t>
            </a:r>
            <a:endParaRPr 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3.1 ACTOR CLASSIFICATION AND NETWORK TRUST LEVELS</a:t>
            </a:r>
            <a:endParaRPr lang="en-US" sz="2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4114800">
                  <a:extLst>
                    <a:ext uri="{9D8B030D-6E8A-4147-A177-3AD203B41FA5}">
                      <a16:colId xmlns:a16="http://schemas.microsoft.com/office/drawing/2014/main" val="20004"/>
                    </a:ext>
                  </a:extLst>
                </a:gridCol>
              </a:tblGrid>
              <a:tr h="34747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Actor Type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Zone Access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VLAN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Trust Level</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Network Policy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General Spectators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Z1–Z3</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100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C0392B"/>
                          </a:solidFill>
                          <a:latin typeface="Calibri" pitchFamily="34" charset="0"/>
                          <a:ea typeface="Calibri" pitchFamily="34" charset="-122"/>
                          <a:cs typeface="Calibri" pitchFamily="34" charset="-120"/>
                        </a:rPr>
                        <a:t>UNTRUSTED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Internet only, client isolation</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VIP Guests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Z1–Z4</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100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E67E22"/>
                          </a:solidFill>
                          <a:latin typeface="Calibri" pitchFamily="34" charset="0"/>
                          <a:ea typeface="Calibri" pitchFamily="34" charset="-122"/>
                          <a:cs typeface="Calibri" pitchFamily="34" charset="-120"/>
                        </a:rPr>
                        <a:t>LOW TRUST</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Internet only, managed bandwidth</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Stewards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Z1–Z3, Z8</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20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F1C40F"/>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Event systems only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Operations Staff</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Z2–Z6, Z9</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30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27AE60"/>
                          </a:solidFill>
                          <a:latin typeface="Calibri" pitchFamily="34" charset="0"/>
                          <a:ea typeface="Calibri" pitchFamily="34" charset="-122"/>
                          <a:cs typeface="Calibri" pitchFamily="34" charset="-120"/>
                        </a:rPr>
                        <a:t>TRUSTED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Operations network, wired preferred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IT / NOC Staff</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All zones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10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A7A4A"/>
                          </a:solidFill>
                          <a:latin typeface="Calibri" pitchFamily="34" charset="0"/>
                          <a:ea typeface="Calibri" pitchFamily="34" charset="-122"/>
                          <a:cs typeface="Calibri" pitchFamily="34" charset="-120"/>
                        </a:rPr>
                        <a:t>HIGH TRUST</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Full network access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Security Staff</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All zones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20+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A7A4A"/>
                          </a:solidFill>
                          <a:latin typeface="Calibri" pitchFamily="34" charset="0"/>
                          <a:ea typeface="Calibri" pitchFamily="34" charset="-122"/>
                          <a:cs typeface="Calibri" pitchFamily="34" charset="-120"/>
                        </a:rPr>
                        <a:t>HIGH TRUST</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CCTV and comms access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Media / Broadcast Crew</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Z5, Z8</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40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F1C40F"/>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Media VLAN, outbound only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F&amp;B Vendors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Z2, Z3</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50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E67E22"/>
                          </a:solidFill>
                          <a:latin typeface="Calibri" pitchFamily="34" charset="0"/>
                          <a:ea typeface="Calibri" pitchFamily="34" charset="-122"/>
                          <a:cs typeface="Calibri" pitchFamily="34" charset="-120"/>
                        </a:rPr>
                        <a:t>LOW TRUST</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POS terminals only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Contractors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Z9, limited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Isolated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C0392B"/>
                          </a:solidFill>
                          <a:latin typeface="Calibri" pitchFamily="34" charset="0"/>
                          <a:ea typeface="Calibri" pitchFamily="34" charset="-122"/>
                          <a:cs typeface="Calibri" pitchFamily="34" charset="-120"/>
                        </a:rPr>
                        <a:t>UNTRUSTED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No general network access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Emergency Services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All zones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VLAN 60</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1A7A4A"/>
                          </a:solidFill>
                          <a:latin typeface="Calibri" pitchFamily="34" charset="0"/>
                          <a:ea typeface="Calibri" pitchFamily="34" charset="-122"/>
                          <a:cs typeface="Calibri" pitchFamily="34" charset="-120"/>
                        </a:rPr>
                        <a:t>HIGH (vetted)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Emergency comms only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747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Delivery Drivers</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Z9 only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b="1" dirty="0">
                          <a:solidFill>
                            <a:srgbClr val="C0392B"/>
                          </a:solidFill>
                          <a:latin typeface="Calibri" pitchFamily="34" charset="0"/>
                          <a:ea typeface="Calibri" pitchFamily="34" charset="-122"/>
                          <a:cs typeface="Calibri" pitchFamily="34" charset="-120"/>
                        </a:rPr>
                        <a:t>UNTRUSTED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No network access granted</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3.2 SOCIAL ENGINEERING THREAT ANALYSIS</a:t>
            </a:r>
            <a:endParaRPr lang="en-US" sz="2000" dirty="0"/>
          </a:p>
        </p:txBody>
      </p:sp>
      <p:sp>
        <p:nvSpPr>
          <p:cNvPr id="5" name="Shape 3"/>
          <p:cNvSpPr/>
          <p:nvPr/>
        </p:nvSpPr>
        <p:spPr>
          <a:xfrm>
            <a:off x="274320" y="777240"/>
            <a:ext cx="2743200" cy="2011680"/>
          </a:xfrm>
          <a:prstGeom prst="rect">
            <a:avLst/>
          </a:prstGeom>
          <a:solidFill>
            <a:srgbClr val="FFFFFF"/>
          </a:solidFill>
          <a:ln w="12700">
            <a:solidFill>
              <a:srgbClr val="C0392B"/>
            </a:solidFill>
            <a:prstDash val="solid"/>
          </a:ln>
        </p:spPr>
      </p:sp>
      <p:sp>
        <p:nvSpPr>
          <p:cNvPr id="6" name="Shape 4"/>
          <p:cNvSpPr/>
          <p:nvPr/>
        </p:nvSpPr>
        <p:spPr>
          <a:xfrm>
            <a:off x="274320" y="777240"/>
            <a:ext cx="2743200" cy="64008"/>
          </a:xfrm>
          <a:prstGeom prst="rect">
            <a:avLst/>
          </a:prstGeom>
          <a:solidFill>
            <a:srgbClr val="C0392B"/>
          </a:solidFill>
          <a:ln w="12700">
            <a:solidFill>
              <a:srgbClr val="C0392B"/>
            </a:solidFill>
            <a:prstDash val="solid"/>
          </a:ln>
        </p:spPr>
      </p:sp>
      <p:sp>
        <p:nvSpPr>
          <p:cNvPr id="7" name="Shape 5"/>
          <p:cNvSpPr/>
          <p:nvPr/>
        </p:nvSpPr>
        <p:spPr>
          <a:xfrm>
            <a:off x="347472" y="886968"/>
            <a:ext cx="1005840" cy="256032"/>
          </a:xfrm>
          <a:prstGeom prst="roundRect">
            <a:avLst>
              <a:gd name="adj" fmla="val 14286"/>
            </a:avLst>
          </a:prstGeom>
          <a:solidFill>
            <a:srgbClr val="C0392B"/>
          </a:solidFill>
          <a:ln w="12700">
            <a:solidFill>
              <a:srgbClr val="C0392B"/>
            </a:solidFill>
            <a:prstDash val="solid"/>
          </a:ln>
        </p:spPr>
      </p:sp>
      <p:sp>
        <p:nvSpPr>
          <p:cNvPr id="8" name="Text 6"/>
          <p:cNvSpPr/>
          <p:nvPr/>
        </p:nvSpPr>
        <p:spPr>
          <a:xfrm>
            <a:off x="347472" y="886968"/>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9" name="Text 7"/>
          <p:cNvSpPr/>
          <p:nvPr/>
        </p:nvSpPr>
        <p:spPr>
          <a:xfrm>
            <a:off x="347472" y="1179576"/>
            <a:ext cx="260604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IT Staff Impersonation</a:t>
            </a:r>
            <a:endParaRPr lang="en-US" sz="1100" dirty="0"/>
          </a:p>
        </p:txBody>
      </p:sp>
      <p:sp>
        <p:nvSpPr>
          <p:cNvPr id="10" name="Text 8"/>
          <p:cNvSpPr/>
          <p:nvPr/>
        </p:nvSpPr>
        <p:spPr>
          <a:xfrm>
            <a:off x="347472" y="1673352"/>
            <a:ext cx="2606040" cy="59436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Attacker pretends to be IT technician, requests server room access. Staff may allow entry without verification.</a:t>
            </a:r>
            <a:endParaRPr lang="en-US" sz="900" dirty="0"/>
          </a:p>
        </p:txBody>
      </p:sp>
      <p:sp>
        <p:nvSpPr>
          <p:cNvPr id="11" name="Text 9"/>
          <p:cNvSpPr/>
          <p:nvPr/>
        </p:nvSpPr>
        <p:spPr>
          <a:xfrm>
            <a:off x="347472" y="2286000"/>
            <a:ext cx="2606040" cy="457200"/>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 ID badge checks, escort policy, NOC approval required.</a:t>
            </a:r>
            <a:endParaRPr lang="en-US" sz="900" dirty="0"/>
          </a:p>
        </p:txBody>
      </p:sp>
      <p:sp>
        <p:nvSpPr>
          <p:cNvPr id="12" name="Shape 10"/>
          <p:cNvSpPr/>
          <p:nvPr/>
        </p:nvSpPr>
        <p:spPr>
          <a:xfrm>
            <a:off x="3154680" y="777240"/>
            <a:ext cx="2743200" cy="2011680"/>
          </a:xfrm>
          <a:prstGeom prst="rect">
            <a:avLst/>
          </a:prstGeom>
          <a:solidFill>
            <a:srgbClr val="FFFFFF"/>
          </a:solidFill>
          <a:ln w="12700">
            <a:solidFill>
              <a:srgbClr val="CC6600"/>
            </a:solidFill>
            <a:prstDash val="solid"/>
          </a:ln>
        </p:spPr>
      </p:sp>
      <p:sp>
        <p:nvSpPr>
          <p:cNvPr id="13" name="Shape 11"/>
          <p:cNvSpPr/>
          <p:nvPr/>
        </p:nvSpPr>
        <p:spPr>
          <a:xfrm>
            <a:off x="3154680" y="777240"/>
            <a:ext cx="2743200" cy="64008"/>
          </a:xfrm>
          <a:prstGeom prst="rect">
            <a:avLst/>
          </a:prstGeom>
          <a:solidFill>
            <a:srgbClr val="CC6600"/>
          </a:solidFill>
          <a:ln w="12700">
            <a:solidFill>
              <a:srgbClr val="CC6600"/>
            </a:solidFill>
            <a:prstDash val="solid"/>
          </a:ln>
        </p:spPr>
      </p:sp>
      <p:sp>
        <p:nvSpPr>
          <p:cNvPr id="14" name="Shape 12"/>
          <p:cNvSpPr/>
          <p:nvPr/>
        </p:nvSpPr>
        <p:spPr>
          <a:xfrm>
            <a:off x="3227832" y="886968"/>
            <a:ext cx="1005840" cy="256032"/>
          </a:xfrm>
          <a:prstGeom prst="roundRect">
            <a:avLst>
              <a:gd name="adj" fmla="val 14286"/>
            </a:avLst>
          </a:prstGeom>
          <a:solidFill>
            <a:srgbClr val="CC6600"/>
          </a:solidFill>
          <a:ln w="12700">
            <a:solidFill>
              <a:srgbClr val="CC6600"/>
            </a:solidFill>
            <a:prstDash val="solid"/>
          </a:ln>
        </p:spPr>
      </p:sp>
      <p:sp>
        <p:nvSpPr>
          <p:cNvPr id="15" name="Text 13"/>
          <p:cNvSpPr/>
          <p:nvPr/>
        </p:nvSpPr>
        <p:spPr>
          <a:xfrm>
            <a:off x="3227832" y="886968"/>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6" name="Text 14"/>
          <p:cNvSpPr/>
          <p:nvPr/>
        </p:nvSpPr>
        <p:spPr>
          <a:xfrm>
            <a:off x="3227832" y="1179576"/>
            <a:ext cx="260604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Evil Twin WiFi Attack</a:t>
            </a:r>
            <a:endParaRPr lang="en-US" sz="1100" dirty="0"/>
          </a:p>
        </p:txBody>
      </p:sp>
      <p:sp>
        <p:nvSpPr>
          <p:cNvPr id="17" name="Text 15"/>
          <p:cNvSpPr/>
          <p:nvPr/>
        </p:nvSpPr>
        <p:spPr>
          <a:xfrm>
            <a:off x="3227832" y="1673352"/>
            <a:ext cx="2606040" cy="59436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Attacker creates a fake WiFi hotspot with the official stadium name. Spectators' passwords and payment details are stolen.</a:t>
            </a:r>
            <a:endParaRPr lang="en-US" sz="900" dirty="0"/>
          </a:p>
        </p:txBody>
      </p:sp>
      <p:sp>
        <p:nvSpPr>
          <p:cNvPr id="18" name="Text 16"/>
          <p:cNvSpPr/>
          <p:nvPr/>
        </p:nvSpPr>
        <p:spPr>
          <a:xfrm>
            <a:off x="3227832" y="2286000"/>
            <a:ext cx="2606040" cy="457200"/>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 System auto-detects and blocks fake networks. Signs show real WiFi name.</a:t>
            </a:r>
            <a:endParaRPr lang="en-US" sz="900" dirty="0"/>
          </a:p>
        </p:txBody>
      </p:sp>
      <p:sp>
        <p:nvSpPr>
          <p:cNvPr id="19" name="Shape 17"/>
          <p:cNvSpPr/>
          <p:nvPr/>
        </p:nvSpPr>
        <p:spPr>
          <a:xfrm>
            <a:off x="6035040" y="777240"/>
            <a:ext cx="2743200" cy="2011680"/>
          </a:xfrm>
          <a:prstGeom prst="rect">
            <a:avLst/>
          </a:prstGeom>
          <a:solidFill>
            <a:srgbClr val="FFFFFF"/>
          </a:solidFill>
          <a:ln w="12700">
            <a:solidFill>
              <a:srgbClr val="CC6600"/>
            </a:solidFill>
            <a:prstDash val="solid"/>
          </a:ln>
        </p:spPr>
      </p:sp>
      <p:sp>
        <p:nvSpPr>
          <p:cNvPr id="20" name="Shape 18"/>
          <p:cNvSpPr/>
          <p:nvPr/>
        </p:nvSpPr>
        <p:spPr>
          <a:xfrm>
            <a:off x="6035040" y="777240"/>
            <a:ext cx="2743200" cy="64008"/>
          </a:xfrm>
          <a:prstGeom prst="rect">
            <a:avLst/>
          </a:prstGeom>
          <a:solidFill>
            <a:srgbClr val="CC6600"/>
          </a:solidFill>
          <a:ln w="12700">
            <a:solidFill>
              <a:srgbClr val="CC6600"/>
            </a:solidFill>
            <a:prstDash val="solid"/>
          </a:ln>
        </p:spPr>
      </p:sp>
      <p:sp>
        <p:nvSpPr>
          <p:cNvPr id="21" name="Shape 19"/>
          <p:cNvSpPr/>
          <p:nvPr/>
        </p:nvSpPr>
        <p:spPr>
          <a:xfrm>
            <a:off x="6108192" y="886968"/>
            <a:ext cx="1005840" cy="256032"/>
          </a:xfrm>
          <a:prstGeom prst="roundRect">
            <a:avLst>
              <a:gd name="adj" fmla="val 14286"/>
            </a:avLst>
          </a:prstGeom>
          <a:solidFill>
            <a:srgbClr val="CC6600"/>
          </a:solidFill>
          <a:ln w="12700">
            <a:solidFill>
              <a:srgbClr val="CC6600"/>
            </a:solidFill>
            <a:prstDash val="solid"/>
          </a:ln>
        </p:spPr>
      </p:sp>
      <p:sp>
        <p:nvSpPr>
          <p:cNvPr id="22" name="Text 20"/>
          <p:cNvSpPr/>
          <p:nvPr/>
        </p:nvSpPr>
        <p:spPr>
          <a:xfrm>
            <a:off x="6108192" y="886968"/>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3" name="Text 21"/>
          <p:cNvSpPr/>
          <p:nvPr/>
        </p:nvSpPr>
        <p:spPr>
          <a:xfrm>
            <a:off x="6108192" y="1179576"/>
            <a:ext cx="260604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Tailgating / Piggybacking</a:t>
            </a:r>
            <a:endParaRPr lang="en-US" sz="1100" dirty="0"/>
          </a:p>
        </p:txBody>
      </p:sp>
      <p:sp>
        <p:nvSpPr>
          <p:cNvPr id="24" name="Text 22"/>
          <p:cNvSpPr/>
          <p:nvPr/>
        </p:nvSpPr>
        <p:spPr>
          <a:xfrm>
            <a:off x="6108192" y="1673352"/>
            <a:ext cx="2606040" cy="59436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Unauthorized person follows staff member through secure door without showing credentials.</a:t>
            </a:r>
            <a:endParaRPr lang="en-US" sz="900" dirty="0"/>
          </a:p>
        </p:txBody>
      </p:sp>
      <p:sp>
        <p:nvSpPr>
          <p:cNvPr id="25" name="Text 23"/>
          <p:cNvSpPr/>
          <p:nvPr/>
        </p:nvSpPr>
        <p:spPr>
          <a:xfrm>
            <a:off x="6108192" y="2286000"/>
            <a:ext cx="2606040" cy="457200"/>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 Security awareness training, one-person-at-a-time access doors, security guards.</a:t>
            </a:r>
            <a:endParaRPr lang="en-US" sz="900" dirty="0"/>
          </a:p>
        </p:txBody>
      </p:sp>
      <p:sp>
        <p:nvSpPr>
          <p:cNvPr id="26" name="Shape 24"/>
          <p:cNvSpPr/>
          <p:nvPr/>
        </p:nvSpPr>
        <p:spPr>
          <a:xfrm>
            <a:off x="274320" y="2926080"/>
            <a:ext cx="2743200" cy="2011680"/>
          </a:xfrm>
          <a:prstGeom prst="rect">
            <a:avLst/>
          </a:prstGeom>
          <a:solidFill>
            <a:srgbClr val="FFFFFF"/>
          </a:solidFill>
          <a:ln w="12700">
            <a:solidFill>
              <a:srgbClr val="C0392B"/>
            </a:solidFill>
            <a:prstDash val="solid"/>
          </a:ln>
        </p:spPr>
      </p:sp>
      <p:sp>
        <p:nvSpPr>
          <p:cNvPr id="27" name="Shape 25"/>
          <p:cNvSpPr/>
          <p:nvPr/>
        </p:nvSpPr>
        <p:spPr>
          <a:xfrm>
            <a:off x="274320" y="2926080"/>
            <a:ext cx="2743200" cy="64008"/>
          </a:xfrm>
          <a:prstGeom prst="rect">
            <a:avLst/>
          </a:prstGeom>
          <a:solidFill>
            <a:srgbClr val="C0392B"/>
          </a:solidFill>
          <a:ln w="12700">
            <a:solidFill>
              <a:srgbClr val="C0392B"/>
            </a:solidFill>
            <a:prstDash val="solid"/>
          </a:ln>
        </p:spPr>
      </p:sp>
      <p:sp>
        <p:nvSpPr>
          <p:cNvPr id="28" name="Shape 26"/>
          <p:cNvSpPr/>
          <p:nvPr/>
        </p:nvSpPr>
        <p:spPr>
          <a:xfrm>
            <a:off x="347472" y="3035808"/>
            <a:ext cx="1005840" cy="256032"/>
          </a:xfrm>
          <a:prstGeom prst="roundRect">
            <a:avLst>
              <a:gd name="adj" fmla="val 14286"/>
            </a:avLst>
          </a:prstGeom>
          <a:solidFill>
            <a:srgbClr val="C0392B"/>
          </a:solidFill>
          <a:ln w="12700">
            <a:solidFill>
              <a:srgbClr val="C0392B"/>
            </a:solidFill>
            <a:prstDash val="solid"/>
          </a:ln>
        </p:spPr>
      </p:sp>
      <p:sp>
        <p:nvSpPr>
          <p:cNvPr id="29" name="Text 27"/>
          <p:cNvSpPr/>
          <p:nvPr/>
        </p:nvSpPr>
        <p:spPr>
          <a:xfrm>
            <a:off x="347472" y="3035808"/>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30" name="Text 28"/>
          <p:cNvSpPr/>
          <p:nvPr/>
        </p:nvSpPr>
        <p:spPr>
          <a:xfrm>
            <a:off x="347472" y="3328416"/>
            <a:ext cx="260604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Vendor / Supply Chain Deception</a:t>
            </a:r>
            <a:endParaRPr lang="en-US" sz="1100" dirty="0"/>
          </a:p>
        </p:txBody>
      </p:sp>
      <p:sp>
        <p:nvSpPr>
          <p:cNvPr id="31" name="Text 29"/>
          <p:cNvSpPr/>
          <p:nvPr/>
        </p:nvSpPr>
        <p:spPr>
          <a:xfrm>
            <a:off x="347472" y="3822192"/>
            <a:ext cx="2606040" cy="59436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Fake delivery person arrives at service gate. Guard approves entry without proper checks.</a:t>
            </a:r>
            <a:endParaRPr lang="en-US" sz="900" dirty="0"/>
          </a:p>
        </p:txBody>
      </p:sp>
      <p:sp>
        <p:nvSpPr>
          <p:cNvPr id="32" name="Text 30"/>
          <p:cNvSpPr/>
          <p:nvPr/>
        </p:nvSpPr>
        <p:spPr>
          <a:xfrm>
            <a:off x="347472" y="4434840"/>
            <a:ext cx="2606040" cy="457200"/>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 All deliveries pre-registered. Drivers must show photo ID. No unregistered vehicles allowed.</a:t>
            </a:r>
            <a:endParaRPr lang="en-US" sz="900" dirty="0"/>
          </a:p>
        </p:txBody>
      </p:sp>
      <p:sp>
        <p:nvSpPr>
          <p:cNvPr id="33" name="Shape 31"/>
          <p:cNvSpPr/>
          <p:nvPr/>
        </p:nvSpPr>
        <p:spPr>
          <a:xfrm>
            <a:off x="3154680" y="2926080"/>
            <a:ext cx="2743200" cy="2011680"/>
          </a:xfrm>
          <a:prstGeom prst="rect">
            <a:avLst/>
          </a:prstGeom>
          <a:solidFill>
            <a:srgbClr val="FFFFFF"/>
          </a:solidFill>
          <a:ln w="12700">
            <a:solidFill>
              <a:srgbClr val="CC6600"/>
            </a:solidFill>
            <a:prstDash val="solid"/>
          </a:ln>
        </p:spPr>
      </p:sp>
      <p:sp>
        <p:nvSpPr>
          <p:cNvPr id="34" name="Shape 32"/>
          <p:cNvSpPr/>
          <p:nvPr/>
        </p:nvSpPr>
        <p:spPr>
          <a:xfrm>
            <a:off x="3154680" y="2926080"/>
            <a:ext cx="2743200" cy="64008"/>
          </a:xfrm>
          <a:prstGeom prst="rect">
            <a:avLst/>
          </a:prstGeom>
          <a:solidFill>
            <a:srgbClr val="CC6600"/>
          </a:solidFill>
          <a:ln w="12700">
            <a:solidFill>
              <a:srgbClr val="CC6600"/>
            </a:solidFill>
            <a:prstDash val="solid"/>
          </a:ln>
        </p:spPr>
      </p:sp>
      <p:sp>
        <p:nvSpPr>
          <p:cNvPr id="35" name="Shape 33"/>
          <p:cNvSpPr/>
          <p:nvPr/>
        </p:nvSpPr>
        <p:spPr>
          <a:xfrm>
            <a:off x="3227832" y="3035808"/>
            <a:ext cx="1005840" cy="256032"/>
          </a:xfrm>
          <a:prstGeom prst="roundRect">
            <a:avLst>
              <a:gd name="adj" fmla="val 14286"/>
            </a:avLst>
          </a:prstGeom>
          <a:solidFill>
            <a:srgbClr val="CC6600"/>
          </a:solidFill>
          <a:ln w="12700">
            <a:solidFill>
              <a:srgbClr val="CC6600"/>
            </a:solidFill>
            <a:prstDash val="solid"/>
          </a:ln>
        </p:spPr>
      </p:sp>
      <p:sp>
        <p:nvSpPr>
          <p:cNvPr id="36" name="Text 34"/>
          <p:cNvSpPr/>
          <p:nvPr/>
        </p:nvSpPr>
        <p:spPr>
          <a:xfrm>
            <a:off x="3227832" y="3035808"/>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37" name="Text 35"/>
          <p:cNvSpPr/>
          <p:nvPr/>
        </p:nvSpPr>
        <p:spPr>
          <a:xfrm>
            <a:off x="3227832" y="3328416"/>
            <a:ext cx="260604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Phishing Attack on Staff</a:t>
            </a:r>
            <a:endParaRPr lang="en-US" sz="1100" dirty="0"/>
          </a:p>
        </p:txBody>
      </p:sp>
      <p:sp>
        <p:nvSpPr>
          <p:cNvPr id="38" name="Text 36"/>
          <p:cNvSpPr/>
          <p:nvPr/>
        </p:nvSpPr>
        <p:spPr>
          <a:xfrm>
            <a:off x="3227832" y="3822192"/>
            <a:ext cx="2606040" cy="59436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Staff receive fake email asking to verify login via a link that steals credentials.</a:t>
            </a:r>
            <a:endParaRPr lang="en-US" sz="900" dirty="0"/>
          </a:p>
        </p:txBody>
      </p:sp>
      <p:sp>
        <p:nvSpPr>
          <p:cNvPr id="39" name="Text 37"/>
          <p:cNvSpPr/>
          <p:nvPr/>
        </p:nvSpPr>
        <p:spPr>
          <a:xfrm>
            <a:off x="3227832" y="4434840"/>
            <a:ext cx="2606040" cy="457200"/>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 Staff cybersecurity training, email filtering, multi-factor authentication (MFA).</a:t>
            </a:r>
            <a:endParaRPr lang="en-US" sz="900" dirty="0"/>
          </a:p>
        </p:txBody>
      </p:sp>
      <p:sp>
        <p:nvSpPr>
          <p:cNvPr id="40" name="Shape 38"/>
          <p:cNvSpPr/>
          <p:nvPr/>
        </p:nvSpPr>
        <p:spPr>
          <a:xfrm>
            <a:off x="6035040" y="2926080"/>
            <a:ext cx="2743200" cy="2011680"/>
          </a:xfrm>
          <a:prstGeom prst="rect">
            <a:avLst/>
          </a:prstGeom>
          <a:solidFill>
            <a:srgbClr val="FFFFFF"/>
          </a:solidFill>
          <a:ln w="12700">
            <a:solidFill>
              <a:srgbClr val="CC6600"/>
            </a:solidFill>
            <a:prstDash val="solid"/>
          </a:ln>
        </p:spPr>
      </p:sp>
      <p:sp>
        <p:nvSpPr>
          <p:cNvPr id="41" name="Shape 39"/>
          <p:cNvSpPr/>
          <p:nvPr/>
        </p:nvSpPr>
        <p:spPr>
          <a:xfrm>
            <a:off x="6035040" y="2926080"/>
            <a:ext cx="2743200" cy="64008"/>
          </a:xfrm>
          <a:prstGeom prst="rect">
            <a:avLst/>
          </a:prstGeom>
          <a:solidFill>
            <a:srgbClr val="CC6600"/>
          </a:solidFill>
          <a:ln w="12700">
            <a:solidFill>
              <a:srgbClr val="CC6600"/>
            </a:solidFill>
            <a:prstDash val="solid"/>
          </a:ln>
        </p:spPr>
      </p:sp>
      <p:sp>
        <p:nvSpPr>
          <p:cNvPr id="42" name="Shape 40"/>
          <p:cNvSpPr/>
          <p:nvPr/>
        </p:nvSpPr>
        <p:spPr>
          <a:xfrm>
            <a:off x="6108192" y="3035808"/>
            <a:ext cx="1005840" cy="256032"/>
          </a:xfrm>
          <a:prstGeom prst="roundRect">
            <a:avLst>
              <a:gd name="adj" fmla="val 14286"/>
            </a:avLst>
          </a:prstGeom>
          <a:solidFill>
            <a:srgbClr val="CC6600"/>
          </a:solidFill>
          <a:ln w="12700">
            <a:solidFill>
              <a:srgbClr val="CC6600"/>
            </a:solidFill>
            <a:prstDash val="solid"/>
          </a:ln>
        </p:spPr>
      </p:sp>
      <p:sp>
        <p:nvSpPr>
          <p:cNvPr id="43" name="Text 41"/>
          <p:cNvSpPr/>
          <p:nvPr/>
        </p:nvSpPr>
        <p:spPr>
          <a:xfrm>
            <a:off x="6108192" y="3035808"/>
            <a:ext cx="10058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44" name="Text 42"/>
          <p:cNvSpPr/>
          <p:nvPr/>
        </p:nvSpPr>
        <p:spPr>
          <a:xfrm>
            <a:off x="6108192" y="3328416"/>
            <a:ext cx="2606040" cy="5029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Insider Threat</a:t>
            </a:r>
            <a:endParaRPr lang="en-US" sz="1100" dirty="0"/>
          </a:p>
        </p:txBody>
      </p:sp>
      <p:sp>
        <p:nvSpPr>
          <p:cNvPr id="45" name="Text 43"/>
          <p:cNvSpPr/>
          <p:nvPr/>
        </p:nvSpPr>
        <p:spPr>
          <a:xfrm>
            <a:off x="6108192" y="3822192"/>
            <a:ext cx="2606040" cy="59436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 staff member uses legitimate access to steal data, disable cameras, or allow unauthorized access.</a:t>
            </a:r>
            <a:endParaRPr lang="en-US" sz="900" dirty="0"/>
          </a:p>
        </p:txBody>
      </p:sp>
      <p:sp>
        <p:nvSpPr>
          <p:cNvPr id="46" name="Text 44"/>
          <p:cNvSpPr/>
          <p:nvPr/>
        </p:nvSpPr>
        <p:spPr>
          <a:xfrm>
            <a:off x="6108192" y="4434840"/>
            <a:ext cx="2606040" cy="457200"/>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 Role-based access, monitoring of unusual activity — large data transfers or after-hours access.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Text 1"/>
          <p:cNvSpPr/>
          <p:nvPr/>
        </p:nvSpPr>
        <p:spPr>
          <a:xfrm>
            <a:off x="640080" y="1371600"/>
            <a:ext cx="7772400" cy="548640"/>
          </a:xfrm>
          <a:prstGeom prst="rect">
            <a:avLst/>
          </a:prstGeom>
          <a:noFill/>
          <a:ln/>
        </p:spPr>
        <p:txBody>
          <a:bodyPr wrap="square" rtlCol="0" anchor="ctr"/>
          <a:lstStyle/>
          <a:p>
            <a:pPr marL="0" indent="0">
              <a:buNone/>
            </a:pPr>
            <a:r>
              <a:rPr lang="en-US" sz="1400" b="1" kern="0" spc="500" dirty="0">
                <a:solidFill>
                  <a:srgbClr val="E05C5C"/>
                </a:solidFill>
                <a:latin typeface="Calibri" pitchFamily="34" charset="0"/>
                <a:ea typeface="Calibri" pitchFamily="34" charset="-122"/>
                <a:cs typeface="Calibri" pitchFamily="34" charset="-120"/>
              </a:rPr>
              <a:t>SECTION 4</a:t>
            </a:r>
            <a:endParaRPr lang="en-US" sz="1400" dirty="0"/>
          </a:p>
        </p:txBody>
      </p:sp>
      <p:sp>
        <p:nvSpPr>
          <p:cNvPr id="4" name="Text 2"/>
          <p:cNvSpPr/>
          <p:nvPr/>
        </p:nvSpPr>
        <p:spPr>
          <a:xfrm>
            <a:off x="640080" y="1920240"/>
            <a:ext cx="7772400"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Security Policy and Standards Alignment</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4.1 STANDARDS AND FRAMEWORKS REFERENCED</a:t>
            </a:r>
            <a:endParaRPr lang="en-US" sz="2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Standard / Framework</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Domain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Relevance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ISO/IEC 27001:2022</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Information Security Management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Overarching ISMS framework for all controls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NIST SP 800-53 Rev. 5</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Federal Security Controls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Access control, incident response, and audit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NIST SP 800-116</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Physical Access Control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PIV card and biometric access control design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NIST SP 800-153</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Wireless LAN Security</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WiFi policy and rogue AP detection guidance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CIS Controls v8</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Cyber Hygiene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Controls 1–13 applied across network design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PCI-DSS v4.0</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Payment Card Security</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VLAN 50 POS isolation and segmentation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BS EN 62676</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CCTV Standards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Camera specification and placement guidance</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GDPR Article 6</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Data Protection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Lawful basis for biometric data processing</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0624">
                <a:tc>
                  <a:txBody>
                    <a:bodyPr/>
                    <a:lstStyle/>
                    <a:p>
                      <a:pPr marL="0" indent="0">
                        <a:buNone/>
                      </a:pPr>
                      <a:r>
                        <a:rPr lang="en-US" sz="1000" b="1" dirty="0">
                          <a:solidFill>
                            <a:srgbClr val="E05C5C"/>
                          </a:solidFill>
                          <a:latin typeface="Calibri" pitchFamily="34" charset="0"/>
                          <a:ea typeface="Calibri" pitchFamily="34" charset="-122"/>
                          <a:cs typeface="Calibri" pitchFamily="34" charset="-120"/>
                        </a:rPr>
                        <a:t>IEEE 802.11ax (Wi-Fi 6)</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Wireless Standards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WPA3-Enterprise for all staff networks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4.2 KEY POLICY RECOMMENDATIONS</a:t>
            </a:r>
            <a:endParaRPr lang="en-US" sz="2000" dirty="0"/>
          </a:p>
        </p:txBody>
      </p:sp>
      <p:sp>
        <p:nvSpPr>
          <p:cNvPr id="5" name="Shape 3"/>
          <p:cNvSpPr/>
          <p:nvPr/>
        </p:nvSpPr>
        <p:spPr>
          <a:xfrm>
            <a:off x="274320" y="777240"/>
            <a:ext cx="4160520" cy="2011680"/>
          </a:xfrm>
          <a:prstGeom prst="rect">
            <a:avLst/>
          </a:prstGeom>
          <a:solidFill>
            <a:srgbClr val="FFFFFF"/>
          </a:solidFill>
          <a:ln w="12700">
            <a:solidFill>
              <a:srgbClr val="CADCFC"/>
            </a:solidFill>
            <a:prstDash val="solid"/>
          </a:ln>
        </p:spPr>
      </p:sp>
      <p:sp>
        <p:nvSpPr>
          <p:cNvPr id="6" name="Shape 4"/>
          <p:cNvSpPr/>
          <p:nvPr/>
        </p:nvSpPr>
        <p:spPr>
          <a:xfrm>
            <a:off x="274320" y="777240"/>
            <a:ext cx="4160520" cy="384048"/>
          </a:xfrm>
          <a:prstGeom prst="rect">
            <a:avLst/>
          </a:prstGeom>
          <a:solidFill>
            <a:srgbClr val="1E2761"/>
          </a:solidFill>
          <a:ln w="12700">
            <a:solidFill>
              <a:srgbClr val="1E2761"/>
            </a:solidFill>
            <a:prstDash val="solid"/>
          </a:ln>
        </p:spPr>
      </p:sp>
      <p:sp>
        <p:nvSpPr>
          <p:cNvPr id="7" name="Text 5"/>
          <p:cNvSpPr/>
          <p:nvPr/>
        </p:nvSpPr>
        <p:spPr>
          <a:xfrm>
            <a:off x="365760" y="813816"/>
            <a:ext cx="39776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Access Control Policy</a:t>
            </a:r>
            <a:endParaRPr lang="en-US" sz="1200" dirty="0"/>
          </a:p>
        </p:txBody>
      </p:sp>
      <p:sp>
        <p:nvSpPr>
          <p:cNvPr id="8" name="Text 6"/>
          <p:cNvSpPr/>
          <p:nvPr/>
        </p:nvSpPr>
        <p:spPr>
          <a:xfrm>
            <a:off x="365760" y="1234440"/>
            <a:ext cx="3931920" cy="1508760"/>
          </a:xfrm>
          <a:prstGeom prst="rect">
            <a:avLst/>
          </a:prstGeom>
          <a:noFill/>
          <a:ln/>
        </p:spPr>
        <p:txBody>
          <a:bodyPr wrap="square" rtlCol="0" anchor="t"/>
          <a:lstStyle/>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All access to zones Z5–Z7 must require at least two forms of authentication</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No one allowed to enter server room or NOC alone</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Access rights reviewed regularly; inactive accounts suspended</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All access events recorded and kept for at least 12 months</a:t>
            </a:r>
            <a:endParaRPr lang="en-US" sz="1050" dirty="0"/>
          </a:p>
        </p:txBody>
      </p:sp>
      <p:sp>
        <p:nvSpPr>
          <p:cNvPr id="9" name="Shape 7"/>
          <p:cNvSpPr/>
          <p:nvPr/>
        </p:nvSpPr>
        <p:spPr>
          <a:xfrm>
            <a:off x="4709160" y="777240"/>
            <a:ext cx="4160520" cy="2011680"/>
          </a:xfrm>
          <a:prstGeom prst="rect">
            <a:avLst/>
          </a:prstGeom>
          <a:solidFill>
            <a:srgbClr val="FFFFFF"/>
          </a:solidFill>
          <a:ln w="12700">
            <a:solidFill>
              <a:srgbClr val="CADCFC"/>
            </a:solidFill>
            <a:prstDash val="solid"/>
          </a:ln>
        </p:spPr>
      </p:sp>
      <p:sp>
        <p:nvSpPr>
          <p:cNvPr id="10" name="Shape 8"/>
          <p:cNvSpPr/>
          <p:nvPr/>
        </p:nvSpPr>
        <p:spPr>
          <a:xfrm>
            <a:off x="4709160" y="777240"/>
            <a:ext cx="4160520" cy="384048"/>
          </a:xfrm>
          <a:prstGeom prst="rect">
            <a:avLst/>
          </a:prstGeom>
          <a:solidFill>
            <a:srgbClr val="1E2761"/>
          </a:solidFill>
          <a:ln w="12700">
            <a:solidFill>
              <a:srgbClr val="1E2761"/>
            </a:solidFill>
            <a:prstDash val="solid"/>
          </a:ln>
        </p:spPr>
      </p:sp>
      <p:sp>
        <p:nvSpPr>
          <p:cNvPr id="11" name="Text 9"/>
          <p:cNvSpPr/>
          <p:nvPr/>
        </p:nvSpPr>
        <p:spPr>
          <a:xfrm>
            <a:off x="4800600" y="813816"/>
            <a:ext cx="39776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Network Security Policy</a:t>
            </a:r>
            <a:endParaRPr lang="en-US" sz="1200" dirty="0"/>
          </a:p>
        </p:txBody>
      </p:sp>
      <p:sp>
        <p:nvSpPr>
          <p:cNvPr id="12" name="Text 10"/>
          <p:cNvSpPr/>
          <p:nvPr/>
        </p:nvSpPr>
        <p:spPr>
          <a:xfrm>
            <a:off x="4800600" y="1234440"/>
            <a:ext cx="3931920" cy="1508760"/>
          </a:xfrm>
          <a:prstGeom prst="rect">
            <a:avLst/>
          </a:prstGeom>
          <a:noFill/>
          <a:ln/>
        </p:spPr>
        <p:txBody>
          <a:bodyPr wrap="square" rtlCol="0" anchor="t"/>
          <a:lstStyle/>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No personal or unregistered device may connect without approval</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All staff wireless connections must use WPA3 encryption</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Public WiFi always kept separate from staff and operations networks</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All new network equipment checked by IT before installation</a:t>
            </a:r>
            <a:endParaRPr lang="en-US" sz="1050" dirty="0"/>
          </a:p>
        </p:txBody>
      </p:sp>
      <p:sp>
        <p:nvSpPr>
          <p:cNvPr id="13" name="Shape 11"/>
          <p:cNvSpPr/>
          <p:nvPr/>
        </p:nvSpPr>
        <p:spPr>
          <a:xfrm>
            <a:off x="274320" y="2926080"/>
            <a:ext cx="4160520" cy="2011680"/>
          </a:xfrm>
          <a:prstGeom prst="rect">
            <a:avLst/>
          </a:prstGeom>
          <a:solidFill>
            <a:srgbClr val="FFFFFF"/>
          </a:solidFill>
          <a:ln w="12700">
            <a:solidFill>
              <a:srgbClr val="CADCFC"/>
            </a:solidFill>
            <a:prstDash val="solid"/>
          </a:ln>
        </p:spPr>
      </p:sp>
      <p:sp>
        <p:nvSpPr>
          <p:cNvPr id="14" name="Shape 12"/>
          <p:cNvSpPr/>
          <p:nvPr/>
        </p:nvSpPr>
        <p:spPr>
          <a:xfrm>
            <a:off x="274320" y="2926080"/>
            <a:ext cx="4160520" cy="384048"/>
          </a:xfrm>
          <a:prstGeom prst="rect">
            <a:avLst/>
          </a:prstGeom>
          <a:solidFill>
            <a:srgbClr val="1E2761"/>
          </a:solidFill>
          <a:ln w="12700">
            <a:solidFill>
              <a:srgbClr val="1E2761"/>
            </a:solidFill>
            <a:prstDash val="solid"/>
          </a:ln>
        </p:spPr>
      </p:sp>
      <p:sp>
        <p:nvSpPr>
          <p:cNvPr id="15" name="Text 13"/>
          <p:cNvSpPr/>
          <p:nvPr/>
        </p:nvSpPr>
        <p:spPr>
          <a:xfrm>
            <a:off x="365760" y="2962656"/>
            <a:ext cx="39776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Surveillance Policy</a:t>
            </a:r>
            <a:endParaRPr lang="en-US" sz="1200" dirty="0"/>
          </a:p>
        </p:txBody>
      </p:sp>
      <p:sp>
        <p:nvSpPr>
          <p:cNvPr id="16" name="Text 14"/>
          <p:cNvSpPr/>
          <p:nvPr/>
        </p:nvSpPr>
        <p:spPr>
          <a:xfrm>
            <a:off x="365760" y="3383280"/>
            <a:ext cx="3931920" cy="1508760"/>
          </a:xfrm>
          <a:prstGeom prst="rect">
            <a:avLst/>
          </a:prstGeom>
          <a:noFill/>
          <a:ln/>
        </p:spPr>
        <p:txBody>
          <a:bodyPr wrap="square" rtlCol="0" anchor="t"/>
          <a:lstStyle/>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All CCTV footage stored securely for at least 31 days</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Access to footage restricted to authorized security and IT staff</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Regular camera audits to check coverage and recording quality</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CCTV use must comply with data protection laws</a:t>
            </a:r>
            <a:endParaRPr lang="en-US" sz="1050" dirty="0"/>
          </a:p>
        </p:txBody>
      </p:sp>
      <p:sp>
        <p:nvSpPr>
          <p:cNvPr id="17" name="Shape 15"/>
          <p:cNvSpPr/>
          <p:nvPr/>
        </p:nvSpPr>
        <p:spPr>
          <a:xfrm>
            <a:off x="4709160" y="2926080"/>
            <a:ext cx="4160520" cy="2011680"/>
          </a:xfrm>
          <a:prstGeom prst="rect">
            <a:avLst/>
          </a:prstGeom>
          <a:solidFill>
            <a:srgbClr val="FFFFFF"/>
          </a:solidFill>
          <a:ln w="12700">
            <a:solidFill>
              <a:srgbClr val="CADCFC"/>
            </a:solidFill>
            <a:prstDash val="solid"/>
          </a:ln>
        </p:spPr>
      </p:sp>
      <p:sp>
        <p:nvSpPr>
          <p:cNvPr id="18" name="Shape 16"/>
          <p:cNvSpPr/>
          <p:nvPr/>
        </p:nvSpPr>
        <p:spPr>
          <a:xfrm>
            <a:off x="4709160" y="2926080"/>
            <a:ext cx="4160520" cy="384048"/>
          </a:xfrm>
          <a:prstGeom prst="rect">
            <a:avLst/>
          </a:prstGeom>
          <a:solidFill>
            <a:srgbClr val="1E2761"/>
          </a:solidFill>
          <a:ln w="12700">
            <a:solidFill>
              <a:srgbClr val="1E2761"/>
            </a:solidFill>
            <a:prstDash val="solid"/>
          </a:ln>
        </p:spPr>
      </p:sp>
      <p:sp>
        <p:nvSpPr>
          <p:cNvPr id="19" name="Text 17"/>
          <p:cNvSpPr/>
          <p:nvPr/>
        </p:nvSpPr>
        <p:spPr>
          <a:xfrm>
            <a:off x="4800600" y="2962656"/>
            <a:ext cx="39776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Incident Response Policy</a:t>
            </a:r>
            <a:endParaRPr lang="en-US" sz="1200" dirty="0"/>
          </a:p>
        </p:txBody>
      </p:sp>
      <p:sp>
        <p:nvSpPr>
          <p:cNvPr id="20" name="Text 18"/>
          <p:cNvSpPr/>
          <p:nvPr/>
        </p:nvSpPr>
        <p:spPr>
          <a:xfrm>
            <a:off x="4800600" y="3383280"/>
            <a:ext cx="3931920" cy="1508760"/>
          </a:xfrm>
          <a:prstGeom prst="rect">
            <a:avLst/>
          </a:prstGeom>
          <a:noFill/>
          <a:ln/>
        </p:spPr>
        <p:txBody>
          <a:bodyPr wrap="square" rtlCol="0" anchor="t"/>
          <a:lstStyle/>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All incidents reported to NOC as soon as detected</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Incident response plan in place and tested regularly</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Security review completed after every major event</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Staff must complete regular training, including social engineering awareness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4.3 RISK REGISTER SUMMARY</a:t>
            </a:r>
            <a:endParaRPr lang="en-US" sz="2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6858000" cy="4297680"/>
        </p:xfrm>
        <a:graphic>
          <a:graphicData uri="http://schemas.openxmlformats.org/drawingml/2006/table">
            <a:tbl>
              <a:tblPr/>
              <a:tblGrid>
                <a:gridCol w="3108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2976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Likelihood</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Risk Level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Rogue AP / Evil Twin attack</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CRITICAL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IT staff impersonation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Human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CRITICAL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Fake vendor / supply chain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Physical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CRITICAL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Tailgating at secure doors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Physical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C66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Phishing targeting staff</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Human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C66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Insider threat from staff</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Human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CC66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WiFi signal spillover</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Camera blind spots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Physical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9768">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Counterfeit ticketing at gates</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Physical</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Text 1"/>
          <p:cNvSpPr/>
          <p:nvPr/>
        </p:nvSpPr>
        <p:spPr>
          <a:xfrm>
            <a:off x="640080" y="1371600"/>
            <a:ext cx="7772400" cy="548640"/>
          </a:xfrm>
          <a:prstGeom prst="rect">
            <a:avLst/>
          </a:prstGeom>
          <a:noFill/>
          <a:ln/>
        </p:spPr>
        <p:txBody>
          <a:bodyPr wrap="square" rtlCol="0" anchor="ctr"/>
          <a:lstStyle/>
          <a:p>
            <a:pPr marL="0" indent="0">
              <a:buNone/>
            </a:pPr>
            <a:r>
              <a:rPr lang="en-US" sz="1400" b="1" kern="0" spc="500" dirty="0">
                <a:solidFill>
                  <a:srgbClr val="E05C5C"/>
                </a:solidFill>
                <a:latin typeface="Calibri" pitchFamily="34" charset="0"/>
                <a:ea typeface="Calibri" pitchFamily="34" charset="-122"/>
                <a:cs typeface="Calibri" pitchFamily="34" charset="-120"/>
              </a:rPr>
              <a:t>SECTION 5</a:t>
            </a:r>
            <a:endParaRPr lang="en-US" sz="1400" dirty="0"/>
          </a:p>
        </p:txBody>
      </p:sp>
      <p:sp>
        <p:nvSpPr>
          <p:cNvPr id="4" name="Text 2"/>
          <p:cNvSpPr/>
          <p:nvPr/>
        </p:nvSpPr>
        <p:spPr>
          <a:xfrm>
            <a:off x="640080" y="1920240"/>
            <a:ext cx="7772400"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Physical Access Control Mechanisms</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SECTION 5: PHYSICAL ACCESS CONTROL MECHANISMS</a:t>
            </a:r>
            <a:endParaRPr lang="en-US" sz="2000" dirty="0"/>
          </a:p>
        </p:txBody>
      </p:sp>
      <p:sp>
        <p:nvSpPr>
          <p:cNvPr id="5" name="Shape 3"/>
          <p:cNvSpPr/>
          <p:nvPr/>
        </p:nvSpPr>
        <p:spPr>
          <a:xfrm>
            <a:off x="274320" y="777240"/>
            <a:ext cx="4160520" cy="2011680"/>
          </a:xfrm>
          <a:prstGeom prst="rect">
            <a:avLst/>
          </a:prstGeom>
          <a:solidFill>
            <a:srgbClr val="FFFFFF"/>
          </a:solidFill>
          <a:ln w="12700">
            <a:solidFill>
              <a:srgbClr val="CADCFC"/>
            </a:solidFill>
            <a:prstDash val="solid"/>
          </a:ln>
        </p:spPr>
      </p:sp>
      <p:sp>
        <p:nvSpPr>
          <p:cNvPr id="6" name="Shape 4"/>
          <p:cNvSpPr/>
          <p:nvPr/>
        </p:nvSpPr>
        <p:spPr>
          <a:xfrm>
            <a:off x="274320" y="777240"/>
            <a:ext cx="73152" cy="2011680"/>
          </a:xfrm>
          <a:prstGeom prst="rect">
            <a:avLst/>
          </a:prstGeom>
          <a:solidFill>
            <a:srgbClr val="E05C5C"/>
          </a:solidFill>
          <a:ln w="12700">
            <a:solidFill>
              <a:srgbClr val="E05C5C"/>
            </a:solidFill>
            <a:prstDash val="solid"/>
          </a:ln>
        </p:spPr>
      </p:sp>
      <p:sp>
        <p:nvSpPr>
          <p:cNvPr id="7" name="Text 5"/>
          <p:cNvSpPr/>
          <p:nvPr/>
        </p:nvSpPr>
        <p:spPr>
          <a:xfrm>
            <a:off x="475488" y="868680"/>
            <a:ext cx="38404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5.1 ID Cards</a:t>
            </a:r>
            <a:endParaRPr lang="en-US" sz="1300" dirty="0"/>
          </a:p>
        </p:txBody>
      </p:sp>
      <p:sp>
        <p:nvSpPr>
          <p:cNvPr id="8" name="Text 6"/>
          <p:cNvSpPr/>
          <p:nvPr/>
        </p:nvSpPr>
        <p:spPr>
          <a:xfrm>
            <a:off x="475488" y="1325880"/>
            <a:ext cx="3840480" cy="1371600"/>
          </a:xfrm>
          <a:prstGeom prst="rect">
            <a:avLst/>
          </a:prstGeom>
          <a:noFill/>
          <a:ln/>
        </p:spPr>
        <p:txBody>
          <a:bodyPr wrap="square" rtlCol="0" anchor="t"/>
          <a:lstStyle/>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RFID cards — scanned at a reader without needing to swipe or insert</a:t>
            </a:r>
            <a:endParaRPr lang="en-US" sz="1150" dirty="0"/>
          </a:p>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Smart badges — store information about staff member and their access level</a:t>
            </a:r>
            <a:endParaRPr lang="en-US" sz="1150" dirty="0"/>
          </a:p>
        </p:txBody>
      </p:sp>
      <p:sp>
        <p:nvSpPr>
          <p:cNvPr id="9" name="Shape 7"/>
          <p:cNvSpPr/>
          <p:nvPr/>
        </p:nvSpPr>
        <p:spPr>
          <a:xfrm>
            <a:off x="4709160" y="777240"/>
            <a:ext cx="4160520" cy="2011680"/>
          </a:xfrm>
          <a:prstGeom prst="rect">
            <a:avLst/>
          </a:prstGeom>
          <a:solidFill>
            <a:srgbClr val="FFFFFF"/>
          </a:solidFill>
          <a:ln w="12700">
            <a:solidFill>
              <a:srgbClr val="CADCFC"/>
            </a:solidFill>
            <a:prstDash val="solid"/>
          </a:ln>
        </p:spPr>
      </p:sp>
      <p:sp>
        <p:nvSpPr>
          <p:cNvPr id="10" name="Shape 8"/>
          <p:cNvSpPr/>
          <p:nvPr/>
        </p:nvSpPr>
        <p:spPr>
          <a:xfrm>
            <a:off x="4709160" y="777240"/>
            <a:ext cx="73152" cy="2011680"/>
          </a:xfrm>
          <a:prstGeom prst="rect">
            <a:avLst/>
          </a:prstGeom>
          <a:solidFill>
            <a:srgbClr val="E05C5C"/>
          </a:solidFill>
          <a:ln w="12700">
            <a:solidFill>
              <a:srgbClr val="E05C5C"/>
            </a:solidFill>
            <a:prstDash val="solid"/>
          </a:ln>
        </p:spPr>
      </p:sp>
      <p:sp>
        <p:nvSpPr>
          <p:cNvPr id="11" name="Text 9"/>
          <p:cNvSpPr/>
          <p:nvPr/>
        </p:nvSpPr>
        <p:spPr>
          <a:xfrm>
            <a:off x="4910328" y="868680"/>
            <a:ext cx="38404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5.2 Biometric Systems</a:t>
            </a:r>
            <a:endParaRPr lang="en-US" sz="1300" dirty="0"/>
          </a:p>
        </p:txBody>
      </p:sp>
      <p:sp>
        <p:nvSpPr>
          <p:cNvPr id="12" name="Text 10"/>
          <p:cNvSpPr/>
          <p:nvPr/>
        </p:nvSpPr>
        <p:spPr>
          <a:xfrm>
            <a:off x="4910328" y="1325880"/>
            <a:ext cx="3840480" cy="1371600"/>
          </a:xfrm>
          <a:prstGeom prst="rect">
            <a:avLst/>
          </a:prstGeom>
          <a:noFill/>
          <a:ln/>
        </p:spPr>
        <p:txBody>
          <a:bodyPr wrap="square" rtlCol="0" anchor="t"/>
          <a:lstStyle/>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Fingerprint scanner — scans the person's fingerprint to confirm identity</a:t>
            </a:r>
            <a:endParaRPr lang="en-US" sz="1150" dirty="0"/>
          </a:p>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Facial recognition — camera checks the person's face before allowing access</a:t>
            </a:r>
            <a:endParaRPr lang="en-US" sz="1150" dirty="0"/>
          </a:p>
        </p:txBody>
      </p:sp>
      <p:sp>
        <p:nvSpPr>
          <p:cNvPr id="13" name="Shape 11"/>
          <p:cNvSpPr/>
          <p:nvPr/>
        </p:nvSpPr>
        <p:spPr>
          <a:xfrm>
            <a:off x="274320" y="2926080"/>
            <a:ext cx="4160520" cy="2011680"/>
          </a:xfrm>
          <a:prstGeom prst="rect">
            <a:avLst/>
          </a:prstGeom>
          <a:solidFill>
            <a:srgbClr val="FFFFFF"/>
          </a:solidFill>
          <a:ln w="12700">
            <a:solidFill>
              <a:srgbClr val="CADCFC"/>
            </a:solidFill>
            <a:prstDash val="solid"/>
          </a:ln>
        </p:spPr>
      </p:sp>
      <p:sp>
        <p:nvSpPr>
          <p:cNvPr id="14" name="Shape 12"/>
          <p:cNvSpPr/>
          <p:nvPr/>
        </p:nvSpPr>
        <p:spPr>
          <a:xfrm>
            <a:off x="274320" y="2926080"/>
            <a:ext cx="73152" cy="2011680"/>
          </a:xfrm>
          <a:prstGeom prst="rect">
            <a:avLst/>
          </a:prstGeom>
          <a:solidFill>
            <a:srgbClr val="E05C5C"/>
          </a:solidFill>
          <a:ln w="12700">
            <a:solidFill>
              <a:srgbClr val="E05C5C"/>
            </a:solidFill>
            <a:prstDash val="solid"/>
          </a:ln>
        </p:spPr>
      </p:sp>
      <p:sp>
        <p:nvSpPr>
          <p:cNvPr id="15" name="Text 13"/>
          <p:cNvSpPr/>
          <p:nvPr/>
        </p:nvSpPr>
        <p:spPr>
          <a:xfrm>
            <a:off x="475488" y="3017520"/>
            <a:ext cx="38404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5.3 Electronic Locks</a:t>
            </a:r>
            <a:endParaRPr lang="en-US" sz="1300" dirty="0"/>
          </a:p>
        </p:txBody>
      </p:sp>
      <p:sp>
        <p:nvSpPr>
          <p:cNvPr id="16" name="Text 14"/>
          <p:cNvSpPr/>
          <p:nvPr/>
        </p:nvSpPr>
        <p:spPr>
          <a:xfrm>
            <a:off x="475488" y="3474720"/>
            <a:ext cx="3840480" cy="1371600"/>
          </a:xfrm>
          <a:prstGeom prst="rect">
            <a:avLst/>
          </a:prstGeom>
          <a:noFill/>
          <a:ln/>
        </p:spPr>
        <p:txBody>
          <a:bodyPr wrap="square" rtlCol="0" anchor="t"/>
          <a:lstStyle/>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Keypad locks — person enters a PIN code to unlock the door</a:t>
            </a:r>
            <a:endParaRPr lang="en-US" sz="1150" dirty="0"/>
          </a:p>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RFID locks — door unlocks when authorized RFID card is held near reader</a:t>
            </a:r>
            <a:endParaRPr lang="en-US" sz="1150" dirty="0"/>
          </a:p>
        </p:txBody>
      </p:sp>
      <p:sp>
        <p:nvSpPr>
          <p:cNvPr id="17" name="Shape 15"/>
          <p:cNvSpPr/>
          <p:nvPr/>
        </p:nvSpPr>
        <p:spPr>
          <a:xfrm>
            <a:off x="4709160" y="2926080"/>
            <a:ext cx="4160520" cy="2011680"/>
          </a:xfrm>
          <a:prstGeom prst="rect">
            <a:avLst/>
          </a:prstGeom>
          <a:solidFill>
            <a:srgbClr val="FFFFFF"/>
          </a:solidFill>
          <a:ln w="12700">
            <a:solidFill>
              <a:srgbClr val="CADCFC"/>
            </a:solidFill>
            <a:prstDash val="solid"/>
          </a:ln>
        </p:spPr>
      </p:sp>
      <p:sp>
        <p:nvSpPr>
          <p:cNvPr id="18" name="Shape 16"/>
          <p:cNvSpPr/>
          <p:nvPr/>
        </p:nvSpPr>
        <p:spPr>
          <a:xfrm>
            <a:off x="4709160" y="2926080"/>
            <a:ext cx="73152" cy="2011680"/>
          </a:xfrm>
          <a:prstGeom prst="rect">
            <a:avLst/>
          </a:prstGeom>
          <a:solidFill>
            <a:srgbClr val="E05C5C"/>
          </a:solidFill>
          <a:ln w="12700">
            <a:solidFill>
              <a:srgbClr val="E05C5C"/>
            </a:solidFill>
            <a:prstDash val="solid"/>
          </a:ln>
        </p:spPr>
      </p:sp>
      <p:sp>
        <p:nvSpPr>
          <p:cNvPr id="19" name="Text 17"/>
          <p:cNvSpPr/>
          <p:nvPr/>
        </p:nvSpPr>
        <p:spPr>
          <a:xfrm>
            <a:off x="4910328" y="3017520"/>
            <a:ext cx="38404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5.4 Turnstiles</a:t>
            </a:r>
            <a:endParaRPr lang="en-US" sz="1300" dirty="0"/>
          </a:p>
        </p:txBody>
      </p:sp>
      <p:sp>
        <p:nvSpPr>
          <p:cNvPr id="20" name="Text 18"/>
          <p:cNvSpPr/>
          <p:nvPr/>
        </p:nvSpPr>
        <p:spPr>
          <a:xfrm>
            <a:off x="4910328" y="3474720"/>
            <a:ext cx="3840480" cy="1371600"/>
          </a:xfrm>
          <a:prstGeom prst="rect">
            <a:avLst/>
          </a:prstGeom>
          <a:noFill/>
          <a:ln/>
        </p:spPr>
        <p:txBody>
          <a:bodyPr wrap="square" rtlCol="0" anchor="t"/>
          <a:lstStyle/>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Installed at all spectator entrances to control flow of people</a:t>
            </a:r>
            <a:endParaRPr lang="en-US" sz="1150" dirty="0"/>
          </a:p>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Each person must scan a valid ticket to pass through</a:t>
            </a:r>
            <a:endParaRPr lang="en-US" sz="1150" dirty="0"/>
          </a:p>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Stops people from entering without a ticket; counts people inside</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Text 1"/>
          <p:cNvSpPr/>
          <p:nvPr/>
        </p:nvSpPr>
        <p:spPr>
          <a:xfrm>
            <a:off x="640080" y="1371600"/>
            <a:ext cx="7772400" cy="548640"/>
          </a:xfrm>
          <a:prstGeom prst="rect">
            <a:avLst/>
          </a:prstGeom>
          <a:noFill/>
          <a:ln/>
        </p:spPr>
        <p:txBody>
          <a:bodyPr wrap="square" rtlCol="0" anchor="ctr"/>
          <a:lstStyle/>
          <a:p>
            <a:pPr marL="0" indent="0">
              <a:buNone/>
            </a:pPr>
            <a:r>
              <a:rPr lang="en-US" sz="1400" b="1" kern="0" spc="500" dirty="0">
                <a:solidFill>
                  <a:srgbClr val="E05C5C"/>
                </a:solidFill>
                <a:latin typeface="Calibri" pitchFamily="34" charset="0"/>
                <a:ea typeface="Calibri" pitchFamily="34" charset="-122"/>
                <a:cs typeface="Calibri" pitchFamily="34" charset="-120"/>
              </a:rPr>
              <a:t>SECTION 6</a:t>
            </a:r>
            <a:endParaRPr lang="en-US" sz="1400" dirty="0"/>
          </a:p>
        </p:txBody>
      </p:sp>
      <p:sp>
        <p:nvSpPr>
          <p:cNvPr id="4" name="Text 2"/>
          <p:cNvSpPr/>
          <p:nvPr/>
        </p:nvSpPr>
        <p:spPr>
          <a:xfrm>
            <a:off x="640080" y="1920240"/>
            <a:ext cx="7772400"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Security Classification</a:t>
            </a:r>
            <a:endParaRPr 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SECTION 6: SECURITY CLASSIFICATION</a:t>
            </a:r>
            <a:endParaRPr lang="en-US" sz="2000" dirty="0"/>
          </a:p>
        </p:txBody>
      </p:sp>
      <p:sp>
        <p:nvSpPr>
          <p:cNvPr id="5" name="Shape 3"/>
          <p:cNvSpPr/>
          <p:nvPr/>
        </p:nvSpPr>
        <p:spPr>
          <a:xfrm>
            <a:off x="274320" y="777240"/>
            <a:ext cx="2743200" cy="4114800"/>
          </a:xfrm>
          <a:prstGeom prst="rect">
            <a:avLst/>
          </a:prstGeom>
          <a:solidFill>
            <a:srgbClr val="FFFFFF"/>
          </a:solidFill>
          <a:ln w="12700">
            <a:solidFill>
              <a:srgbClr val="27AE60"/>
            </a:solidFill>
            <a:prstDash val="solid"/>
          </a:ln>
        </p:spPr>
      </p:sp>
      <p:sp>
        <p:nvSpPr>
          <p:cNvPr id="6" name="Shape 4"/>
          <p:cNvSpPr/>
          <p:nvPr/>
        </p:nvSpPr>
        <p:spPr>
          <a:xfrm>
            <a:off x="274320" y="777240"/>
            <a:ext cx="2743200" cy="475488"/>
          </a:xfrm>
          <a:prstGeom prst="rect">
            <a:avLst/>
          </a:prstGeom>
          <a:solidFill>
            <a:srgbClr val="27AE60"/>
          </a:solidFill>
          <a:ln w="12700">
            <a:solidFill>
              <a:srgbClr val="27AE60"/>
            </a:solidFill>
            <a:prstDash val="solid"/>
          </a:ln>
        </p:spPr>
      </p:sp>
      <p:sp>
        <p:nvSpPr>
          <p:cNvPr id="7" name="Text 5"/>
          <p:cNvSpPr/>
          <p:nvPr/>
        </p:nvSpPr>
        <p:spPr>
          <a:xfrm>
            <a:off x="365760" y="804672"/>
            <a:ext cx="2560320" cy="43891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6.1 Preventive Controls</a:t>
            </a:r>
            <a:endParaRPr lang="en-US" sz="1200" dirty="0"/>
          </a:p>
        </p:txBody>
      </p:sp>
      <p:sp>
        <p:nvSpPr>
          <p:cNvPr id="8" name="Text 6"/>
          <p:cNvSpPr/>
          <p:nvPr/>
        </p:nvSpPr>
        <p:spPr>
          <a:xfrm>
            <a:off x="365760" y="1298448"/>
            <a:ext cx="2560320" cy="685800"/>
          </a:xfrm>
          <a:prstGeom prst="rect">
            <a:avLst/>
          </a:prstGeom>
          <a:noFill/>
          <a:ln/>
        </p:spPr>
        <p:txBody>
          <a:bodyPr wrap="square" rtlCol="0" anchor="ctr"/>
          <a:lstStyle/>
          <a:p>
            <a:pPr marL="0" indent="0">
              <a:buNone/>
            </a:pPr>
            <a:r>
              <a:rPr lang="en-US" sz="1000" i="1" dirty="0">
                <a:solidFill>
                  <a:srgbClr val="8896C0"/>
                </a:solidFill>
                <a:latin typeface="Calibri" pitchFamily="34" charset="0"/>
                <a:ea typeface="Calibri" pitchFamily="34" charset="-122"/>
                <a:cs typeface="Calibri" pitchFamily="34" charset="-120"/>
              </a:rPr>
              <a:t>Measures that stop incidents from happening in the first place — put in place before any problem occurs.</a:t>
            </a:r>
            <a:endParaRPr lang="en-US" sz="1000" dirty="0"/>
          </a:p>
        </p:txBody>
      </p:sp>
      <p:sp>
        <p:nvSpPr>
          <p:cNvPr id="9" name="Text 7"/>
          <p:cNvSpPr/>
          <p:nvPr/>
        </p:nvSpPr>
        <p:spPr>
          <a:xfrm>
            <a:off x="365760" y="2029968"/>
            <a:ext cx="2560320" cy="2743200"/>
          </a:xfrm>
          <a:prstGeom prst="rect">
            <a:avLst/>
          </a:prstGeom>
          <a:noFill/>
          <a:ln/>
        </p:spPr>
        <p:txBody>
          <a:bodyPr wrap="square" rtlCol="0" anchor="t"/>
          <a:lstStyle/>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Access control systems — only allow authorized people into restricted areas</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Security guards — visible presence that discourages unauthorized access</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Perimeter fencing — physical barrier that prevents entry to wrong areas</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Strong authentication — requires multiple steps to verify identity before access</a:t>
            </a:r>
            <a:endParaRPr lang="en-US" sz="1050" dirty="0"/>
          </a:p>
        </p:txBody>
      </p:sp>
      <p:sp>
        <p:nvSpPr>
          <p:cNvPr id="10" name="Shape 8"/>
          <p:cNvSpPr/>
          <p:nvPr/>
        </p:nvSpPr>
        <p:spPr>
          <a:xfrm>
            <a:off x="3154680" y="777240"/>
            <a:ext cx="2743200" cy="4114800"/>
          </a:xfrm>
          <a:prstGeom prst="rect">
            <a:avLst/>
          </a:prstGeom>
          <a:solidFill>
            <a:srgbClr val="FFFFFF"/>
          </a:solidFill>
          <a:ln w="12700">
            <a:solidFill>
              <a:srgbClr val="1E2761"/>
            </a:solidFill>
            <a:prstDash val="solid"/>
          </a:ln>
        </p:spPr>
      </p:sp>
      <p:sp>
        <p:nvSpPr>
          <p:cNvPr id="11" name="Shape 9"/>
          <p:cNvSpPr/>
          <p:nvPr/>
        </p:nvSpPr>
        <p:spPr>
          <a:xfrm>
            <a:off x="3154680" y="777240"/>
            <a:ext cx="2743200" cy="475488"/>
          </a:xfrm>
          <a:prstGeom prst="rect">
            <a:avLst/>
          </a:prstGeom>
          <a:solidFill>
            <a:srgbClr val="1E2761"/>
          </a:solidFill>
          <a:ln w="12700">
            <a:solidFill>
              <a:srgbClr val="1E2761"/>
            </a:solidFill>
            <a:prstDash val="solid"/>
          </a:ln>
        </p:spPr>
      </p:sp>
      <p:sp>
        <p:nvSpPr>
          <p:cNvPr id="12" name="Text 10"/>
          <p:cNvSpPr/>
          <p:nvPr/>
        </p:nvSpPr>
        <p:spPr>
          <a:xfrm>
            <a:off x="3246120" y="804672"/>
            <a:ext cx="2560320" cy="43891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6.2 Detective Controls</a:t>
            </a:r>
            <a:endParaRPr lang="en-US" sz="1200" dirty="0"/>
          </a:p>
        </p:txBody>
      </p:sp>
      <p:sp>
        <p:nvSpPr>
          <p:cNvPr id="13" name="Text 11"/>
          <p:cNvSpPr/>
          <p:nvPr/>
        </p:nvSpPr>
        <p:spPr>
          <a:xfrm>
            <a:off x="3246120" y="1298448"/>
            <a:ext cx="2560320" cy="685800"/>
          </a:xfrm>
          <a:prstGeom prst="rect">
            <a:avLst/>
          </a:prstGeom>
          <a:noFill/>
          <a:ln/>
        </p:spPr>
        <p:txBody>
          <a:bodyPr wrap="square" rtlCol="0" anchor="ctr"/>
          <a:lstStyle/>
          <a:p>
            <a:pPr marL="0" indent="0">
              <a:buNone/>
            </a:pPr>
            <a:r>
              <a:rPr lang="en-US" sz="1000" i="1" dirty="0">
                <a:solidFill>
                  <a:srgbClr val="8896C0"/>
                </a:solidFill>
                <a:latin typeface="Calibri" pitchFamily="34" charset="0"/>
                <a:ea typeface="Calibri" pitchFamily="34" charset="-122"/>
                <a:cs typeface="Calibri" pitchFamily="34" charset="-120"/>
              </a:rPr>
              <a:t>Measures that identify and record incidents as they are happening — help security staff notice problems quickly.</a:t>
            </a:r>
            <a:endParaRPr lang="en-US" sz="1000" dirty="0"/>
          </a:p>
        </p:txBody>
      </p:sp>
      <p:sp>
        <p:nvSpPr>
          <p:cNvPr id="14" name="Text 12"/>
          <p:cNvSpPr/>
          <p:nvPr/>
        </p:nvSpPr>
        <p:spPr>
          <a:xfrm>
            <a:off x="3246120" y="2029968"/>
            <a:ext cx="2560320" cy="2743200"/>
          </a:xfrm>
          <a:prstGeom prst="rect">
            <a:avLst/>
          </a:prstGeom>
          <a:noFill/>
          <a:ln/>
        </p:spPr>
        <p:txBody>
          <a:bodyPr wrap="square" rtlCol="0" anchor="t"/>
          <a:lstStyle/>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CCTV cameras — record activity and alert staff to suspicious behaviour</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Intrusion detection systems — detect unauthorized access attempts on the network</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Security monitoring software — watches network traffic for unusual activity</a:t>
            </a:r>
            <a:endParaRPr lang="en-US" sz="1050" dirty="0"/>
          </a:p>
        </p:txBody>
      </p:sp>
      <p:sp>
        <p:nvSpPr>
          <p:cNvPr id="15" name="Shape 13"/>
          <p:cNvSpPr/>
          <p:nvPr/>
        </p:nvSpPr>
        <p:spPr>
          <a:xfrm>
            <a:off x="6035040" y="777240"/>
            <a:ext cx="2743200" cy="4114800"/>
          </a:xfrm>
          <a:prstGeom prst="rect">
            <a:avLst/>
          </a:prstGeom>
          <a:solidFill>
            <a:srgbClr val="FFFFFF"/>
          </a:solidFill>
          <a:ln w="12700">
            <a:solidFill>
              <a:srgbClr val="E67E22"/>
            </a:solidFill>
            <a:prstDash val="solid"/>
          </a:ln>
        </p:spPr>
      </p:sp>
      <p:sp>
        <p:nvSpPr>
          <p:cNvPr id="16" name="Shape 14"/>
          <p:cNvSpPr/>
          <p:nvPr/>
        </p:nvSpPr>
        <p:spPr>
          <a:xfrm>
            <a:off x="6035040" y="777240"/>
            <a:ext cx="2743200" cy="475488"/>
          </a:xfrm>
          <a:prstGeom prst="rect">
            <a:avLst/>
          </a:prstGeom>
          <a:solidFill>
            <a:srgbClr val="E67E22"/>
          </a:solidFill>
          <a:ln w="12700">
            <a:solidFill>
              <a:srgbClr val="E67E22"/>
            </a:solidFill>
            <a:prstDash val="solid"/>
          </a:ln>
        </p:spPr>
      </p:sp>
      <p:sp>
        <p:nvSpPr>
          <p:cNvPr id="17" name="Text 15"/>
          <p:cNvSpPr/>
          <p:nvPr/>
        </p:nvSpPr>
        <p:spPr>
          <a:xfrm>
            <a:off x="6126480" y="804672"/>
            <a:ext cx="2560320" cy="43891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6.3 Corrective Controls</a:t>
            </a:r>
            <a:endParaRPr lang="en-US" sz="1200" dirty="0"/>
          </a:p>
        </p:txBody>
      </p:sp>
      <p:sp>
        <p:nvSpPr>
          <p:cNvPr id="18" name="Text 16"/>
          <p:cNvSpPr/>
          <p:nvPr/>
        </p:nvSpPr>
        <p:spPr>
          <a:xfrm>
            <a:off x="6126480" y="1298448"/>
            <a:ext cx="2560320" cy="685800"/>
          </a:xfrm>
          <a:prstGeom prst="rect">
            <a:avLst/>
          </a:prstGeom>
          <a:noFill/>
          <a:ln/>
        </p:spPr>
        <p:txBody>
          <a:bodyPr wrap="square" rtlCol="0" anchor="ctr"/>
          <a:lstStyle/>
          <a:p>
            <a:pPr marL="0" indent="0">
              <a:buNone/>
            </a:pPr>
            <a:r>
              <a:rPr lang="en-US" sz="1000" i="1" dirty="0">
                <a:solidFill>
                  <a:srgbClr val="8896C0"/>
                </a:solidFill>
                <a:latin typeface="Calibri" pitchFamily="34" charset="0"/>
                <a:ea typeface="Calibri" pitchFamily="34" charset="-122"/>
                <a:cs typeface="Calibri" pitchFamily="34" charset="-120"/>
              </a:rPr>
              <a:t>Measures taken after an incident has occurred — help the stadium recover and prevent recurrence.</a:t>
            </a:r>
            <a:endParaRPr lang="en-US" sz="1000" dirty="0"/>
          </a:p>
        </p:txBody>
      </p:sp>
      <p:sp>
        <p:nvSpPr>
          <p:cNvPr id="19" name="Text 17"/>
          <p:cNvSpPr/>
          <p:nvPr/>
        </p:nvSpPr>
        <p:spPr>
          <a:xfrm>
            <a:off x="6126480" y="2029968"/>
            <a:ext cx="2560320" cy="2743200"/>
          </a:xfrm>
          <a:prstGeom prst="rect">
            <a:avLst/>
          </a:prstGeom>
          <a:noFill/>
          <a:ln/>
        </p:spPr>
        <p:txBody>
          <a:bodyPr wrap="square" rtlCol="0" anchor="t"/>
          <a:lstStyle/>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Incident response team — trained staff who respond to security incidents</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Alarm systems — alert staff and trigger response when breach is detected</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Lockdown procedures — steps taken to secure stadium when serious threat detected</a:t>
            </a:r>
            <a:endParaRPr lang="en-US" sz="1050" dirty="0"/>
          </a:p>
          <a:p>
            <a:pPr marL="342900" indent="-342900">
              <a:buSzPct val="100000"/>
              <a:buChar char="•"/>
            </a:pPr>
            <a:r>
              <a:rPr lang="en-US" sz="1050" b="1" dirty="0">
                <a:solidFill>
                  <a:srgbClr val="1A1A2E"/>
                </a:solidFill>
                <a:latin typeface="Calibri" pitchFamily="34" charset="0"/>
                <a:ea typeface="Calibri" pitchFamily="34" charset="-122"/>
                <a:cs typeface="Calibri" pitchFamily="34" charset="-120"/>
              </a:rPr>
              <a:t>Backup systems — copies of important data kept safe for restoration after attack</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Text 1"/>
          <p:cNvSpPr/>
          <p:nvPr/>
        </p:nvSpPr>
        <p:spPr>
          <a:xfrm>
            <a:off x="640080" y="1371600"/>
            <a:ext cx="7772400" cy="548640"/>
          </a:xfrm>
          <a:prstGeom prst="rect">
            <a:avLst/>
          </a:prstGeom>
          <a:noFill/>
          <a:ln/>
        </p:spPr>
        <p:txBody>
          <a:bodyPr wrap="square" rtlCol="0" anchor="ctr"/>
          <a:lstStyle/>
          <a:p>
            <a:pPr marL="0" indent="0">
              <a:buNone/>
            </a:pPr>
            <a:r>
              <a:rPr lang="en-US" sz="1400" b="1" kern="0" spc="500" dirty="0">
                <a:solidFill>
                  <a:srgbClr val="E05C5C"/>
                </a:solidFill>
                <a:latin typeface="Calibri" pitchFamily="34" charset="0"/>
                <a:ea typeface="Calibri" pitchFamily="34" charset="-122"/>
                <a:cs typeface="Calibri" pitchFamily="34" charset="-120"/>
              </a:rPr>
              <a:t>SECTION 7</a:t>
            </a:r>
            <a:endParaRPr lang="en-US" sz="1400" dirty="0"/>
          </a:p>
        </p:txBody>
      </p:sp>
      <p:sp>
        <p:nvSpPr>
          <p:cNvPr id="4" name="Text 2"/>
          <p:cNvSpPr/>
          <p:nvPr/>
        </p:nvSpPr>
        <p:spPr>
          <a:xfrm>
            <a:off x="640080" y="1920240"/>
            <a:ext cx="7772400"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Network Architecture</a:t>
            </a:r>
            <a:endParaRPr 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SECTION 7: NETWORK ARCHITECTURE — THREE-LAYER DESIGN</a:t>
            </a:r>
            <a:endParaRPr lang="en-US" sz="2000" dirty="0"/>
          </a:p>
        </p:txBody>
      </p:sp>
      <p:sp>
        <p:nvSpPr>
          <p:cNvPr id="5" name="Shape 3"/>
          <p:cNvSpPr/>
          <p:nvPr/>
        </p:nvSpPr>
        <p:spPr>
          <a:xfrm>
            <a:off x="274320" y="777240"/>
            <a:ext cx="2743200" cy="4114800"/>
          </a:xfrm>
          <a:prstGeom prst="rect">
            <a:avLst/>
          </a:prstGeom>
          <a:solidFill>
            <a:srgbClr val="FFFFFF"/>
          </a:solidFill>
          <a:ln w="12700">
            <a:solidFill>
              <a:srgbClr val="C0392B"/>
            </a:solidFill>
            <a:prstDash val="solid"/>
          </a:ln>
        </p:spPr>
      </p:sp>
      <p:sp>
        <p:nvSpPr>
          <p:cNvPr id="6" name="Shape 4"/>
          <p:cNvSpPr/>
          <p:nvPr/>
        </p:nvSpPr>
        <p:spPr>
          <a:xfrm>
            <a:off x="274320" y="777240"/>
            <a:ext cx="2743200" cy="475488"/>
          </a:xfrm>
          <a:prstGeom prst="rect">
            <a:avLst/>
          </a:prstGeom>
          <a:solidFill>
            <a:srgbClr val="C0392B"/>
          </a:solidFill>
          <a:ln w="12700">
            <a:solidFill>
              <a:srgbClr val="C0392B"/>
            </a:solidFill>
            <a:prstDash val="solid"/>
          </a:ln>
        </p:spPr>
      </p:sp>
      <p:sp>
        <p:nvSpPr>
          <p:cNvPr id="7" name="Text 5"/>
          <p:cNvSpPr/>
          <p:nvPr/>
        </p:nvSpPr>
        <p:spPr>
          <a:xfrm>
            <a:off x="365760" y="804672"/>
            <a:ext cx="256032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7.1 Core Layer</a:t>
            </a:r>
            <a:endParaRPr lang="en-US" sz="1300" dirty="0"/>
          </a:p>
        </p:txBody>
      </p:sp>
      <p:sp>
        <p:nvSpPr>
          <p:cNvPr id="8" name="Text 6"/>
          <p:cNvSpPr/>
          <p:nvPr/>
        </p:nvSpPr>
        <p:spPr>
          <a:xfrm>
            <a:off x="365760" y="1325880"/>
            <a:ext cx="2560320" cy="347472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1 Cisco Router — connects stadium network to the internet</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1 Cisco Firewall — blocks unauthorized traffic; protects internal network</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1 Cisco Core Switch — connects all distribution switches together</a:t>
            </a:r>
            <a:endParaRPr lang="en-US" sz="1100" dirty="0"/>
          </a:p>
        </p:txBody>
      </p:sp>
      <p:sp>
        <p:nvSpPr>
          <p:cNvPr id="9" name="Shape 7"/>
          <p:cNvSpPr/>
          <p:nvPr/>
        </p:nvSpPr>
        <p:spPr>
          <a:xfrm>
            <a:off x="3154680" y="777240"/>
            <a:ext cx="2743200" cy="4114800"/>
          </a:xfrm>
          <a:prstGeom prst="rect">
            <a:avLst/>
          </a:prstGeom>
          <a:solidFill>
            <a:srgbClr val="FFFFFF"/>
          </a:solidFill>
          <a:ln w="12700">
            <a:solidFill>
              <a:srgbClr val="CC6600"/>
            </a:solidFill>
            <a:prstDash val="solid"/>
          </a:ln>
        </p:spPr>
      </p:sp>
      <p:sp>
        <p:nvSpPr>
          <p:cNvPr id="10" name="Shape 8"/>
          <p:cNvSpPr/>
          <p:nvPr/>
        </p:nvSpPr>
        <p:spPr>
          <a:xfrm>
            <a:off x="3154680" y="777240"/>
            <a:ext cx="2743200" cy="475488"/>
          </a:xfrm>
          <a:prstGeom prst="rect">
            <a:avLst/>
          </a:prstGeom>
          <a:solidFill>
            <a:srgbClr val="CC6600"/>
          </a:solidFill>
          <a:ln w="12700">
            <a:solidFill>
              <a:srgbClr val="CC6600"/>
            </a:solidFill>
            <a:prstDash val="solid"/>
          </a:ln>
        </p:spPr>
      </p:sp>
      <p:sp>
        <p:nvSpPr>
          <p:cNvPr id="11" name="Text 9"/>
          <p:cNvSpPr/>
          <p:nvPr/>
        </p:nvSpPr>
        <p:spPr>
          <a:xfrm>
            <a:off x="3246120" y="804672"/>
            <a:ext cx="256032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7.2 Distribution Layer</a:t>
            </a:r>
            <a:endParaRPr lang="en-US" sz="1300" dirty="0"/>
          </a:p>
        </p:txBody>
      </p:sp>
      <p:sp>
        <p:nvSpPr>
          <p:cNvPr id="12" name="Text 10"/>
          <p:cNvSpPr/>
          <p:nvPr/>
        </p:nvSpPr>
        <p:spPr>
          <a:xfrm>
            <a:off x="3246120" y="1325880"/>
            <a:ext cx="2560320" cy="347472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Switch 1 — Security systems network (CCTV, access control)</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Switch 2 — Operations network (staff computers, control room)</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Switch 3 — Public WiFi network (fan hotspots)</a:t>
            </a:r>
            <a:endParaRPr lang="en-US" sz="1100" dirty="0"/>
          </a:p>
        </p:txBody>
      </p:sp>
      <p:sp>
        <p:nvSpPr>
          <p:cNvPr id="13" name="Shape 11"/>
          <p:cNvSpPr/>
          <p:nvPr/>
        </p:nvSpPr>
        <p:spPr>
          <a:xfrm>
            <a:off x="6035040" y="777240"/>
            <a:ext cx="2743200" cy="4114800"/>
          </a:xfrm>
          <a:prstGeom prst="rect">
            <a:avLst/>
          </a:prstGeom>
          <a:solidFill>
            <a:srgbClr val="FFFFFF"/>
          </a:solidFill>
          <a:ln w="12700">
            <a:solidFill>
              <a:srgbClr val="27AE60"/>
            </a:solidFill>
            <a:prstDash val="solid"/>
          </a:ln>
        </p:spPr>
      </p:sp>
      <p:sp>
        <p:nvSpPr>
          <p:cNvPr id="14" name="Shape 12"/>
          <p:cNvSpPr/>
          <p:nvPr/>
        </p:nvSpPr>
        <p:spPr>
          <a:xfrm>
            <a:off x="6035040" y="777240"/>
            <a:ext cx="2743200" cy="475488"/>
          </a:xfrm>
          <a:prstGeom prst="rect">
            <a:avLst/>
          </a:prstGeom>
          <a:solidFill>
            <a:srgbClr val="27AE60"/>
          </a:solidFill>
          <a:ln w="12700">
            <a:solidFill>
              <a:srgbClr val="27AE60"/>
            </a:solidFill>
            <a:prstDash val="solid"/>
          </a:ln>
        </p:spPr>
      </p:sp>
      <p:sp>
        <p:nvSpPr>
          <p:cNvPr id="15" name="Text 13"/>
          <p:cNvSpPr/>
          <p:nvPr/>
        </p:nvSpPr>
        <p:spPr>
          <a:xfrm>
            <a:off x="6126480" y="804672"/>
            <a:ext cx="256032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7.3 Access Layer</a:t>
            </a:r>
            <a:endParaRPr lang="en-US" sz="1300" dirty="0"/>
          </a:p>
        </p:txBody>
      </p:sp>
      <p:sp>
        <p:nvSpPr>
          <p:cNvPr id="16" name="Text 14"/>
          <p:cNvSpPr/>
          <p:nvPr/>
        </p:nvSpPr>
        <p:spPr>
          <a:xfrm>
            <a:off x="6126480" y="1325880"/>
            <a:ext cx="2560320" cy="347472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CCTV cameras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Access control systems (door scanners, turnstiles)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Ticket scanners at entry gates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Staff computers in offices and control rooms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Cisco wireless access points (staff and public WiFi)</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E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761"/>
          </a:solidFill>
          <a:ln w="12700">
            <a:solidFill>
              <a:srgbClr val="1E2761"/>
            </a:solidFill>
            <a:prstDash val="solid"/>
          </a:ln>
        </p:spPr>
      </p:sp>
      <p:sp>
        <p:nvSpPr>
          <p:cNvPr id="3" name="Shape 1"/>
          <p:cNvSpPr/>
          <p:nvPr/>
        </p:nvSpPr>
        <p:spPr>
          <a:xfrm>
            <a:off x="0" y="640080"/>
            <a:ext cx="9144000" cy="36576"/>
          </a:xfrm>
          <a:prstGeom prst="rect">
            <a:avLst/>
          </a:prstGeom>
          <a:solidFill>
            <a:srgbClr val="E05C5C"/>
          </a:solidFill>
          <a:ln w="12700">
            <a:solidFill>
              <a:srgbClr val="E05C5C"/>
            </a:solidFill>
            <a:prstDash val="solid"/>
          </a:ln>
        </p:spPr>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7.4–7.6 NETWORK SEGMENTATION, WIRELESS &amp; SECURITY DEVICES</a:t>
            </a:r>
            <a:endParaRPr lang="en-US" sz="2000" dirty="0"/>
          </a:p>
        </p:txBody>
      </p:sp>
      <p:sp>
        <p:nvSpPr>
          <p:cNvPr id="5" name="Shape 3"/>
          <p:cNvSpPr/>
          <p:nvPr/>
        </p:nvSpPr>
        <p:spPr>
          <a:xfrm>
            <a:off x="274320" y="777240"/>
            <a:ext cx="4114800" cy="2286000"/>
          </a:xfrm>
          <a:prstGeom prst="rect">
            <a:avLst/>
          </a:prstGeom>
          <a:solidFill>
            <a:srgbClr val="FFFFFF"/>
          </a:solidFill>
          <a:ln w="12700">
            <a:solidFill>
              <a:srgbClr val="CADCFC"/>
            </a:solidFill>
            <a:prstDash val="solid"/>
          </a:ln>
        </p:spPr>
      </p:sp>
      <p:sp>
        <p:nvSpPr>
          <p:cNvPr id="6" name="Shape 4"/>
          <p:cNvSpPr/>
          <p:nvPr/>
        </p:nvSpPr>
        <p:spPr>
          <a:xfrm>
            <a:off x="274320" y="777240"/>
            <a:ext cx="4114800" cy="384048"/>
          </a:xfrm>
          <a:prstGeom prst="rect">
            <a:avLst/>
          </a:prstGeom>
          <a:solidFill>
            <a:srgbClr val="1E2761"/>
          </a:solidFill>
          <a:ln w="12700">
            <a:solidFill>
              <a:srgbClr val="1E2761"/>
            </a:solidFill>
            <a:prstDash val="solid"/>
          </a:ln>
        </p:spPr>
      </p:sp>
      <p:sp>
        <p:nvSpPr>
          <p:cNvPr id="7" name="Text 5"/>
          <p:cNvSpPr/>
          <p:nvPr/>
        </p:nvSpPr>
        <p:spPr>
          <a:xfrm>
            <a:off x="365760" y="795528"/>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7.4 Network Segmentation (VLANs)</a:t>
            </a:r>
            <a:endParaRPr lang="en-US" sz="1200" dirty="0"/>
          </a:p>
        </p:txBody>
      </p:sp>
      <p:sp>
        <p:nvSpPr>
          <p:cNvPr id="8" name="Text 6"/>
          <p:cNvSpPr/>
          <p:nvPr/>
        </p:nvSpPr>
        <p:spPr>
          <a:xfrm>
            <a:off x="365760" y="1234440"/>
            <a:ext cx="3931920" cy="173736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VLAN 10 — Security Systems (CCTV cameras, access control devices)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VLAN 20 — Staff Network (staff computers, operations systems)</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VLAN 30 — Media Network (broadcast equipment, press area)</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VLAN 40 — Guest WiFi (public hotspots for fans — internet only)</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VLAN 50 — Management Network (IT administrators only)</a:t>
            </a:r>
            <a:endParaRPr lang="en-US" sz="1100" dirty="0"/>
          </a:p>
        </p:txBody>
      </p:sp>
      <p:sp>
        <p:nvSpPr>
          <p:cNvPr id="9" name="Shape 7"/>
          <p:cNvSpPr/>
          <p:nvPr/>
        </p:nvSpPr>
        <p:spPr>
          <a:xfrm>
            <a:off x="4754880" y="777240"/>
            <a:ext cx="4114800" cy="2286000"/>
          </a:xfrm>
          <a:prstGeom prst="rect">
            <a:avLst/>
          </a:prstGeom>
          <a:solidFill>
            <a:srgbClr val="FFFFFF"/>
          </a:solidFill>
          <a:ln w="12700">
            <a:solidFill>
              <a:srgbClr val="CADCFC"/>
            </a:solidFill>
            <a:prstDash val="solid"/>
          </a:ln>
        </p:spPr>
      </p:sp>
      <p:sp>
        <p:nvSpPr>
          <p:cNvPr id="10" name="Shape 8"/>
          <p:cNvSpPr/>
          <p:nvPr/>
        </p:nvSpPr>
        <p:spPr>
          <a:xfrm>
            <a:off x="4754880" y="777240"/>
            <a:ext cx="4114800" cy="384048"/>
          </a:xfrm>
          <a:prstGeom prst="rect">
            <a:avLst/>
          </a:prstGeom>
          <a:solidFill>
            <a:srgbClr val="1E2761"/>
          </a:solidFill>
          <a:ln w="12700">
            <a:solidFill>
              <a:srgbClr val="1E2761"/>
            </a:solidFill>
            <a:prstDash val="solid"/>
          </a:ln>
        </p:spPr>
      </p:sp>
      <p:sp>
        <p:nvSpPr>
          <p:cNvPr id="11" name="Text 9"/>
          <p:cNvSpPr/>
          <p:nvPr/>
        </p:nvSpPr>
        <p:spPr>
          <a:xfrm>
            <a:off x="4846320" y="795528"/>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7.5 Wireless Network (Access Point Locations)</a:t>
            </a:r>
            <a:endParaRPr lang="en-US" sz="1200" dirty="0"/>
          </a:p>
        </p:txBody>
      </p:sp>
      <p:sp>
        <p:nvSpPr>
          <p:cNvPr id="12" name="Text 10"/>
          <p:cNvSpPr/>
          <p:nvPr/>
        </p:nvSpPr>
        <p:spPr>
          <a:xfrm>
            <a:off x="4846320" y="1234440"/>
            <a:ext cx="3931920" cy="1737360"/>
          </a:xfrm>
          <a:prstGeom prst="rect">
            <a:avLst/>
          </a:prstGeom>
          <a:noFill/>
          <a:ln/>
        </p:spPr>
        <p:txBody>
          <a:bodyPr wrap="square" rtlCol="0" anchor="t"/>
          <a:lstStyle/>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Seating areas — for fans watching the match</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Concourse — for fans moving around the stadium</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VIP areas — for VIP guests and hospitality staff</a:t>
            </a:r>
            <a:endParaRPr lang="en-US" sz="1100" dirty="0"/>
          </a:p>
          <a:p>
            <a:pPr marL="342900" indent="-342900">
              <a:buSzPct val="100000"/>
              <a:buChar char="•"/>
            </a:pPr>
            <a:r>
              <a:rPr lang="en-US" sz="1100" b="1" dirty="0">
                <a:solidFill>
                  <a:srgbClr val="1A1A2E"/>
                </a:solidFill>
                <a:latin typeface="Calibri" pitchFamily="34" charset="0"/>
                <a:ea typeface="Calibri" pitchFamily="34" charset="-122"/>
                <a:cs typeface="Calibri" pitchFamily="34" charset="-120"/>
              </a:rPr>
              <a:t>Media sections — for broadcast crews and journalists</a:t>
            </a:r>
            <a:endParaRPr lang="en-US" sz="1100" dirty="0"/>
          </a:p>
        </p:txBody>
      </p:sp>
      <p:sp>
        <p:nvSpPr>
          <p:cNvPr id="13" name="Text 11"/>
          <p:cNvSpPr/>
          <p:nvPr/>
        </p:nvSpPr>
        <p:spPr>
          <a:xfrm>
            <a:off x="4846320" y="2880360"/>
            <a:ext cx="3931920" cy="365760"/>
          </a:xfrm>
          <a:prstGeom prst="rect">
            <a:avLst/>
          </a:prstGeom>
          <a:noFill/>
          <a:ln/>
        </p:spPr>
        <p:txBody>
          <a:bodyPr wrap="square" rtlCol="0" anchor="ctr"/>
          <a:lstStyle/>
          <a:p>
            <a:pPr marL="0" indent="0">
              <a:buNone/>
            </a:pPr>
            <a:r>
              <a:rPr lang="en-US" sz="1000" i="1" dirty="0">
                <a:solidFill>
                  <a:srgbClr val="8896C0"/>
                </a:solidFill>
                <a:latin typeface="Calibri" pitchFamily="34" charset="0"/>
                <a:ea typeface="Calibri" pitchFamily="34" charset="-122"/>
                <a:cs typeface="Calibri" pitchFamily="34" charset="-120"/>
              </a:rPr>
              <a:t>All access points managed by Cisco Wireless LAN Controller (WLC).</a:t>
            </a:r>
            <a:endParaRPr lang="en-US" sz="1000" dirty="0"/>
          </a:p>
        </p:txBody>
      </p:sp>
      <p:sp>
        <p:nvSpPr>
          <p:cNvPr id="14" name="Shape 12"/>
          <p:cNvSpPr/>
          <p:nvPr/>
        </p:nvSpPr>
        <p:spPr>
          <a:xfrm>
            <a:off x="274320" y="3200400"/>
            <a:ext cx="8595360" cy="1645920"/>
          </a:xfrm>
          <a:prstGeom prst="rect">
            <a:avLst/>
          </a:prstGeom>
          <a:solidFill>
            <a:srgbClr val="FFFFFF"/>
          </a:solidFill>
          <a:ln w="12700">
            <a:solidFill>
              <a:srgbClr val="CADCFC"/>
            </a:solidFill>
            <a:prstDash val="solid"/>
          </a:ln>
        </p:spPr>
      </p:sp>
      <p:sp>
        <p:nvSpPr>
          <p:cNvPr id="15" name="Shape 13"/>
          <p:cNvSpPr/>
          <p:nvPr/>
        </p:nvSpPr>
        <p:spPr>
          <a:xfrm>
            <a:off x="274320" y="3200400"/>
            <a:ext cx="8595360" cy="384048"/>
          </a:xfrm>
          <a:prstGeom prst="rect">
            <a:avLst/>
          </a:prstGeom>
          <a:solidFill>
            <a:srgbClr val="E05C5C"/>
          </a:solidFill>
          <a:ln w="12700">
            <a:solidFill>
              <a:srgbClr val="E05C5C"/>
            </a:solidFill>
            <a:prstDash val="solid"/>
          </a:ln>
        </p:spPr>
      </p:sp>
      <p:sp>
        <p:nvSpPr>
          <p:cNvPr id="16" name="Text 14"/>
          <p:cNvSpPr/>
          <p:nvPr/>
        </p:nvSpPr>
        <p:spPr>
          <a:xfrm>
            <a:off x="365760" y="3218688"/>
            <a:ext cx="82296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7.6 Security Devices</a:t>
            </a:r>
            <a:endParaRPr lang="en-US" sz="1300" dirty="0"/>
          </a:p>
        </p:txBody>
      </p:sp>
      <p:sp>
        <p:nvSpPr>
          <p:cNvPr id="17" name="Text 15"/>
          <p:cNvSpPr/>
          <p:nvPr/>
        </p:nvSpPr>
        <p:spPr>
          <a:xfrm>
            <a:off x="365760" y="3657600"/>
            <a:ext cx="8412480" cy="1097280"/>
          </a:xfrm>
          <a:prstGeom prst="rect">
            <a:avLst/>
          </a:prstGeom>
          <a:noFill/>
          <a:ln/>
        </p:spPr>
        <p:txBody>
          <a:bodyPr wrap="square" rtlCol="0" anchor="t"/>
          <a:lstStyle/>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Cisco Firewall — checks all traffic entering/leaving the network and blocks suspicious traffic</a:t>
            </a:r>
            <a:endParaRPr lang="en-US" sz="1150" dirty="0"/>
          </a:p>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Intrusion Detection System (IDS) — monitors network and raises alarm if attack detected</a:t>
            </a:r>
            <a:endParaRPr lang="en-US" sz="1150" dirty="0"/>
          </a:p>
          <a:p>
            <a:pPr marL="342900" indent="-342900">
              <a:buSzPct val="100000"/>
              <a:buChar char="•"/>
            </a:pPr>
            <a:r>
              <a:rPr lang="en-US" sz="1150" b="1" dirty="0">
                <a:solidFill>
                  <a:srgbClr val="1A1A2E"/>
                </a:solidFill>
                <a:latin typeface="Calibri" pitchFamily="34" charset="0"/>
                <a:ea typeface="Calibri" pitchFamily="34" charset="-122"/>
                <a:cs typeface="Calibri" pitchFamily="34" charset="-120"/>
              </a:rPr>
              <a:t>Network Monitoring System — gives IT staff a clear view of all devices and traffic at all times</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194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5C5C"/>
          </a:solidFill>
          <a:ln w="12700">
            <a:solidFill>
              <a:srgbClr val="E05C5C"/>
            </a:solidFill>
            <a:prstDash val="solid"/>
          </a:ln>
        </p:spPr>
      </p:sp>
      <p:sp>
        <p:nvSpPr>
          <p:cNvPr id="3" name="Shape 1"/>
          <p:cNvSpPr/>
          <p:nvPr/>
        </p:nvSpPr>
        <p:spPr>
          <a:xfrm>
            <a:off x="0" y="4114800"/>
            <a:ext cx="9144000" cy="1028700"/>
          </a:xfrm>
          <a:prstGeom prst="rect">
            <a:avLst/>
          </a:prstGeom>
          <a:solidFill>
            <a:srgbClr val="1E2761"/>
          </a:solidFill>
          <a:ln w="12700">
            <a:solidFill>
              <a:srgbClr val="1E2761"/>
            </a:solidFill>
            <a:prstDash val="solid"/>
          </a:ln>
        </p:spPr>
      </p:sp>
      <p:sp>
        <p:nvSpPr>
          <p:cNvPr id="4" name="Text 2"/>
          <p:cNvSpPr/>
          <p:nvPr/>
        </p:nvSpPr>
        <p:spPr>
          <a:xfrm>
            <a:off x="548640" y="457200"/>
            <a:ext cx="8229600" cy="502920"/>
          </a:xfrm>
          <a:prstGeom prst="rect">
            <a:avLst/>
          </a:prstGeom>
          <a:noFill/>
          <a:ln/>
        </p:spPr>
        <p:txBody>
          <a:bodyPr wrap="square" rtlCol="0" anchor="ctr"/>
          <a:lstStyle/>
          <a:p>
            <a:pPr marL="0" indent="0">
              <a:buNone/>
            </a:pPr>
            <a:r>
              <a:rPr lang="en-US" sz="2200" b="1" kern="0" spc="400" dirty="0">
                <a:solidFill>
                  <a:srgbClr val="E05C5C"/>
                </a:solidFill>
                <a:latin typeface="Calibri" pitchFamily="34" charset="0"/>
                <a:ea typeface="Calibri" pitchFamily="34" charset="-122"/>
                <a:cs typeface="Calibri" pitchFamily="34" charset="-120"/>
              </a:rPr>
              <a:t>CONCLUSION</a:t>
            </a:r>
            <a:endParaRPr lang="en-US" sz="2200" dirty="0"/>
          </a:p>
        </p:txBody>
      </p:sp>
      <p:sp>
        <p:nvSpPr>
          <p:cNvPr id="5" name="Shape 3"/>
          <p:cNvSpPr/>
          <p:nvPr/>
        </p:nvSpPr>
        <p:spPr>
          <a:xfrm>
            <a:off x="548640" y="1097280"/>
            <a:ext cx="2606040" cy="1828800"/>
          </a:xfrm>
          <a:prstGeom prst="rect">
            <a:avLst/>
          </a:prstGeom>
          <a:solidFill>
            <a:srgbClr val="1E2761"/>
          </a:solidFill>
          <a:ln w="12700">
            <a:solidFill>
              <a:srgbClr val="1E2761"/>
            </a:solidFill>
            <a:prstDash val="solid"/>
          </a:ln>
        </p:spPr>
      </p:sp>
      <p:sp>
        <p:nvSpPr>
          <p:cNvPr id="6" name="Shape 4"/>
          <p:cNvSpPr/>
          <p:nvPr/>
        </p:nvSpPr>
        <p:spPr>
          <a:xfrm>
            <a:off x="548640" y="1097280"/>
            <a:ext cx="2606040" cy="64008"/>
          </a:xfrm>
          <a:prstGeom prst="rect">
            <a:avLst/>
          </a:prstGeom>
          <a:solidFill>
            <a:srgbClr val="E05C5C"/>
          </a:solidFill>
          <a:ln w="12700">
            <a:solidFill>
              <a:srgbClr val="E05C5C"/>
            </a:solidFill>
            <a:prstDash val="solid"/>
          </a:ln>
        </p:spPr>
      </p:sp>
      <p:sp>
        <p:nvSpPr>
          <p:cNvPr id="7" name="Text 5"/>
          <p:cNvSpPr/>
          <p:nvPr/>
        </p:nvSpPr>
        <p:spPr>
          <a:xfrm>
            <a:off x="640080" y="1234440"/>
            <a:ext cx="242316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Physical Perimeter</a:t>
            </a:r>
            <a:endParaRPr lang="en-US" sz="1300" dirty="0"/>
          </a:p>
        </p:txBody>
      </p:sp>
      <p:sp>
        <p:nvSpPr>
          <p:cNvPr id="8" name="Text 6"/>
          <p:cNvSpPr/>
          <p:nvPr/>
        </p:nvSpPr>
        <p:spPr>
          <a:xfrm>
            <a:off x="640080" y="1755648"/>
            <a:ext cx="2423160" cy="109728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Main gates, service gate, and NOC need strong physical and technical controls.</a:t>
            </a:r>
            <a:endParaRPr lang="en-US" sz="1100" dirty="0"/>
          </a:p>
        </p:txBody>
      </p:sp>
      <p:sp>
        <p:nvSpPr>
          <p:cNvPr id="9" name="Shape 7"/>
          <p:cNvSpPr/>
          <p:nvPr/>
        </p:nvSpPr>
        <p:spPr>
          <a:xfrm>
            <a:off x="3337560" y="1097280"/>
            <a:ext cx="2606040" cy="1828800"/>
          </a:xfrm>
          <a:prstGeom prst="rect">
            <a:avLst/>
          </a:prstGeom>
          <a:solidFill>
            <a:srgbClr val="1E2761"/>
          </a:solidFill>
          <a:ln w="12700">
            <a:solidFill>
              <a:srgbClr val="1E2761"/>
            </a:solidFill>
            <a:prstDash val="solid"/>
          </a:ln>
        </p:spPr>
      </p:sp>
      <p:sp>
        <p:nvSpPr>
          <p:cNvPr id="10" name="Shape 8"/>
          <p:cNvSpPr/>
          <p:nvPr/>
        </p:nvSpPr>
        <p:spPr>
          <a:xfrm>
            <a:off x="3337560" y="1097280"/>
            <a:ext cx="2606040" cy="64008"/>
          </a:xfrm>
          <a:prstGeom prst="rect">
            <a:avLst/>
          </a:prstGeom>
          <a:solidFill>
            <a:srgbClr val="E05C5C"/>
          </a:solidFill>
          <a:ln w="12700">
            <a:solidFill>
              <a:srgbClr val="E05C5C"/>
            </a:solidFill>
            <a:prstDash val="solid"/>
          </a:ln>
        </p:spPr>
      </p:sp>
      <p:sp>
        <p:nvSpPr>
          <p:cNvPr id="11" name="Text 9"/>
          <p:cNvSpPr/>
          <p:nvPr/>
        </p:nvSpPr>
        <p:spPr>
          <a:xfrm>
            <a:off x="3429000" y="1234440"/>
            <a:ext cx="242316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Wireless Network</a:t>
            </a:r>
            <a:endParaRPr lang="en-US" sz="1300" dirty="0"/>
          </a:p>
        </p:txBody>
      </p:sp>
      <p:sp>
        <p:nvSpPr>
          <p:cNvPr id="12" name="Text 10"/>
          <p:cNvSpPr/>
          <p:nvPr/>
        </p:nvSpPr>
        <p:spPr>
          <a:xfrm>
            <a:off x="3429000" y="1755648"/>
            <a:ext cx="2423160" cy="109728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Must be managed to prevent signal leakage and rogue access points.</a:t>
            </a:r>
            <a:endParaRPr lang="en-US" sz="1100" dirty="0"/>
          </a:p>
        </p:txBody>
      </p:sp>
      <p:sp>
        <p:nvSpPr>
          <p:cNvPr id="13" name="Shape 11"/>
          <p:cNvSpPr/>
          <p:nvPr/>
        </p:nvSpPr>
        <p:spPr>
          <a:xfrm>
            <a:off x="6126480" y="1097280"/>
            <a:ext cx="2606040" cy="1828800"/>
          </a:xfrm>
          <a:prstGeom prst="rect">
            <a:avLst/>
          </a:prstGeom>
          <a:solidFill>
            <a:srgbClr val="1E2761"/>
          </a:solidFill>
          <a:ln w="12700">
            <a:solidFill>
              <a:srgbClr val="1E2761"/>
            </a:solidFill>
            <a:prstDash val="solid"/>
          </a:ln>
        </p:spPr>
      </p:sp>
      <p:sp>
        <p:nvSpPr>
          <p:cNvPr id="14" name="Shape 12"/>
          <p:cNvSpPr/>
          <p:nvPr/>
        </p:nvSpPr>
        <p:spPr>
          <a:xfrm>
            <a:off x="6126480" y="1097280"/>
            <a:ext cx="2606040" cy="64008"/>
          </a:xfrm>
          <a:prstGeom prst="rect">
            <a:avLst/>
          </a:prstGeom>
          <a:solidFill>
            <a:srgbClr val="E05C5C"/>
          </a:solidFill>
          <a:ln w="12700">
            <a:solidFill>
              <a:srgbClr val="E05C5C"/>
            </a:solidFill>
            <a:prstDash val="solid"/>
          </a:ln>
        </p:spPr>
      </p:sp>
      <p:sp>
        <p:nvSpPr>
          <p:cNvPr id="15" name="Text 13"/>
          <p:cNvSpPr/>
          <p:nvPr/>
        </p:nvSpPr>
        <p:spPr>
          <a:xfrm>
            <a:off x="6217920" y="1234440"/>
            <a:ext cx="242316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Social Engineering</a:t>
            </a:r>
            <a:endParaRPr lang="en-US" sz="1300" dirty="0"/>
          </a:p>
        </p:txBody>
      </p:sp>
      <p:sp>
        <p:nvSpPr>
          <p:cNvPr id="16" name="Text 14"/>
          <p:cNvSpPr/>
          <p:nvPr/>
        </p:nvSpPr>
        <p:spPr>
          <a:xfrm>
            <a:off x="6217920" y="1755648"/>
            <a:ext cx="2423160" cy="109728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The hardest threat to defend against because it targets people, not technology.</a:t>
            </a:r>
            <a:endParaRPr lang="en-US" sz="1100" dirty="0"/>
          </a:p>
        </p:txBody>
      </p:sp>
      <p:sp>
        <p:nvSpPr>
          <p:cNvPr id="17" name="Text 15"/>
          <p:cNvSpPr/>
          <p:nvPr/>
        </p:nvSpPr>
        <p:spPr>
          <a:xfrm>
            <a:off x="548640" y="3063240"/>
            <a:ext cx="8229600" cy="68580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The controls in this report work together to protect the stadium. No single measure is enough on its own. Physical security, network controls, and staff training must all be used together.</a:t>
            </a:r>
            <a:endParaRPr lang="en-US" sz="1200" dirty="0"/>
          </a:p>
        </p:txBody>
      </p:sp>
      <p:sp>
        <p:nvSpPr>
          <p:cNvPr id="18" name="Text 16"/>
          <p:cNvSpPr/>
          <p:nvPr/>
        </p:nvSpPr>
        <p:spPr>
          <a:xfrm>
            <a:off x="548640" y="4160520"/>
            <a:ext cx="8229600" cy="365760"/>
          </a:xfrm>
          <a:prstGeom prst="rect">
            <a:avLst/>
          </a:prstGeom>
          <a:noFill/>
          <a:ln/>
        </p:spPr>
        <p:txBody>
          <a:bodyPr wrap="square" rtlCol="0" anchor="ctr"/>
          <a:lstStyle/>
          <a:p>
            <a:pPr marL="0" indent="0">
              <a:buNone/>
            </a:pPr>
            <a:r>
              <a:rPr lang="en-US" sz="1000" dirty="0">
                <a:solidFill>
                  <a:srgbClr val="8896C0"/>
                </a:solidFill>
                <a:latin typeface="Calibri" pitchFamily="34" charset="0"/>
                <a:ea typeface="Calibri" pitchFamily="34" charset="-122"/>
                <a:cs typeface="Calibri" pitchFamily="34" charset="-120"/>
              </a:rPr>
              <a:t>This assessment should be reviewed and updated every year, and whenever major changes are made to the stadium or its systems.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2813</Words>
  <Application>Microsoft Office PowerPoint</Application>
  <PresentationFormat>On-screen Show (16:9)</PresentationFormat>
  <Paragraphs>612</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Stadium Network Security Assessment</dc:title>
  <dc:subject>PptxGenJS Presentation</dc:subject>
  <dc:creator>PptxGenJS</dc:creator>
  <cp:lastModifiedBy>Josephine</cp:lastModifiedBy>
  <cp:revision>3</cp:revision>
  <dcterms:created xsi:type="dcterms:W3CDTF">2026-03-17T18:32:12Z</dcterms:created>
  <dcterms:modified xsi:type="dcterms:W3CDTF">2026-03-18T03:03:05Z</dcterms:modified>
</cp:coreProperties>
</file>